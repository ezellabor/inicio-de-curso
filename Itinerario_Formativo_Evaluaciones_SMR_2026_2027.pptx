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2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688"/>
                </a:solidFill>
              </a:defRPr>
            </a:pPr>
            <a:r>
              <a:t>IES JUAN DE LA CIERVA (MADRID)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Itinerario Formativo Temporal y Evaluaciones</a:t>
            </a:r>
          </a:p>
          <a:p>
            <a:pPr>
              <a:spcBef>
                <a:spcPts val="1500"/>
              </a:spcBef>
              <a:defRPr sz="1800">
                <a:solidFill>
                  <a:srgbClr val="C8D2E1"/>
                </a:solidFill>
              </a:defRPr>
            </a:pPr>
            <a:r>
              <a:t>Curso Académico 2026-2027 | Grado Medio SMR (Sistemas Microinformáticos y Redes)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Itinerario Formativo Temporal (Curso 2026-2027)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FASE 1 </a:t>
            </a:r>
            <a:endParaRPr lang="es-ES" sz="1400" dirty="0"/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 </a:t>
            </a:r>
            <a:r>
              <a:rPr sz="1400" dirty="0" err="1"/>
              <a:t>Septiembre</a:t>
            </a:r>
            <a:r>
              <a:rPr sz="1400" dirty="0"/>
              <a:t> – </a:t>
            </a:r>
            <a:r>
              <a:rPr sz="1400" dirty="0" err="1"/>
              <a:t>Octubre</a:t>
            </a:r>
            <a:endParaRPr sz="1400" dirty="0"/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rPr sz="1400" dirty="0" err="1"/>
              <a:t>Inicio</a:t>
            </a:r>
            <a:r>
              <a:rPr sz="1400" dirty="0"/>
              <a:t> y </a:t>
            </a:r>
            <a:r>
              <a:rPr sz="1400" dirty="0" err="1"/>
              <a:t>Diagnóstico</a:t>
            </a:r>
            <a:endParaRPr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19456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1</a:t>
            </a:r>
            <a:r>
              <a:rPr lang="es-ES" sz="1400" dirty="0"/>
              <a:t>1</a:t>
            </a:r>
            <a:r>
              <a:rPr sz="1400" dirty="0"/>
              <a:t> Sep: </a:t>
            </a:r>
            <a:r>
              <a:rPr sz="1400" dirty="0" err="1"/>
              <a:t>Inicio</a:t>
            </a:r>
            <a:r>
              <a:rPr sz="1400" dirty="0"/>
              <a:t> de </a:t>
            </a:r>
            <a:r>
              <a:rPr sz="1400" dirty="0" err="1"/>
              <a:t>curso</a:t>
            </a:r>
            <a:endParaRPr sz="1400" dirty="0"/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Acogida</a:t>
            </a:r>
            <a:r>
              <a:rPr sz="1400" dirty="0"/>
              <a:t> y </a:t>
            </a:r>
            <a:r>
              <a:rPr sz="1400" dirty="0" err="1"/>
              <a:t>configuración</a:t>
            </a:r>
            <a:endParaRPr sz="1400" dirty="0"/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Finales de </a:t>
            </a:r>
            <a:r>
              <a:rPr sz="1400" dirty="0" err="1"/>
              <a:t>Octubre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EVALUACIÓN INICIAL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62212"/>
            <a:ext cx="246888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FASE 2 </a:t>
            </a:r>
            <a:endParaRPr lang="es-ES" sz="1400" dirty="0"/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 err="1"/>
              <a:t>Noviembre</a:t>
            </a:r>
            <a:r>
              <a:rPr sz="1400" dirty="0"/>
              <a:t> – </a:t>
            </a:r>
            <a:r>
              <a:rPr sz="1400" dirty="0" err="1"/>
              <a:t>Diciembre</a:t>
            </a:r>
            <a:endParaRPr sz="1400" dirty="0"/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rPr sz="1400" dirty="0"/>
              <a:t>1er </a:t>
            </a:r>
            <a:r>
              <a:rPr sz="1400" dirty="0" err="1"/>
              <a:t>Trimestre</a:t>
            </a:r>
            <a:endParaRPr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611880" y="2788920"/>
            <a:ext cx="219456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Contenidos</a:t>
            </a:r>
            <a:r>
              <a:rPr sz="1400" dirty="0"/>
              <a:t> </a:t>
            </a:r>
            <a:r>
              <a:rPr sz="1400" dirty="0" err="1"/>
              <a:t>troncales</a:t>
            </a:r>
            <a:r>
              <a:rPr sz="1400" dirty="0"/>
              <a:t> de SMR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Mediados</a:t>
            </a:r>
            <a:r>
              <a:rPr sz="1400" dirty="0"/>
              <a:t> de </a:t>
            </a:r>
            <a:r>
              <a:rPr sz="1400" dirty="0" err="1"/>
              <a:t>Diciembre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1.ª EVALUACIÓN PARCIAL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Boletines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Roble/</a:t>
            </a:r>
            <a:r>
              <a:rPr sz="1400" dirty="0" err="1"/>
              <a:t>Raíces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10058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FASE 3</a:t>
            </a:r>
            <a:endParaRPr lang="es-ES" sz="1400" dirty="0"/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 err="1"/>
              <a:t>Enero</a:t>
            </a:r>
            <a:r>
              <a:rPr sz="1400" dirty="0"/>
              <a:t> – Marzo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rPr sz="1400" dirty="0"/>
              <a:t>2º </a:t>
            </a:r>
            <a:r>
              <a:rPr sz="1400" dirty="0" err="1"/>
              <a:t>Trimestre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219456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Cierre </a:t>
            </a:r>
            <a:r>
              <a:rPr sz="1400" dirty="0" err="1"/>
              <a:t>teórico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aula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Principios</a:t>
            </a:r>
            <a:r>
              <a:rPr sz="1400" dirty="0"/>
              <a:t> de Marzo:</a:t>
            </a:r>
            <a:br>
              <a:rPr sz="1400" dirty="0"/>
            </a:br>
            <a:r>
              <a:rPr sz="1400" dirty="0"/>
              <a:t>2.ª EVALUACIÓN PARCIAL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Control pre-</a:t>
            </a:r>
            <a:r>
              <a:rPr sz="1400" dirty="0" err="1"/>
              <a:t>empresa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FASE 4</a:t>
            </a:r>
            <a:endParaRPr lang="es-ES" sz="1400" dirty="0"/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Marzo – Junio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rPr sz="1400" dirty="0"/>
              <a:t>Dual / FCT y 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788920"/>
            <a:ext cx="219456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Mar-May: </a:t>
            </a:r>
            <a:r>
              <a:rPr sz="1400" dirty="0" err="1"/>
              <a:t>Formación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Empresa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Fin de Mayo: EV. ORDINARIA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1400" dirty="0"/>
              <a:t>• Junio: EV. EXTRAORDINARIA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6E1DE31-9BAB-4599-3E37-4379EF8F6BB6}"/>
              </a:ext>
            </a:extLst>
          </p:cNvPr>
          <p:cNvSpPr/>
          <p:nvPr/>
        </p:nvSpPr>
        <p:spPr>
          <a:xfrm>
            <a:off x="2928851" y="4752098"/>
            <a:ext cx="895443" cy="54640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49962C16-73BD-FC15-47A5-15A168E32BC2}"/>
              </a:ext>
            </a:extLst>
          </p:cNvPr>
          <p:cNvSpPr/>
          <p:nvPr/>
        </p:nvSpPr>
        <p:spPr>
          <a:xfrm>
            <a:off x="8513398" y="4752100"/>
            <a:ext cx="895443" cy="54640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236D3633-F72E-E4E3-691C-90F387699F92}"/>
              </a:ext>
            </a:extLst>
          </p:cNvPr>
          <p:cNvSpPr/>
          <p:nvPr/>
        </p:nvSpPr>
        <p:spPr>
          <a:xfrm>
            <a:off x="5648125" y="4752099"/>
            <a:ext cx="895443" cy="54640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 err="1"/>
              <a:t>Hitos</a:t>
            </a:r>
            <a:r>
              <a:rPr dirty="0"/>
              <a:t> </a:t>
            </a:r>
            <a:r>
              <a:rPr dirty="0" err="1"/>
              <a:t>Académicos</a:t>
            </a:r>
            <a:r>
              <a:rPr dirty="0"/>
              <a:t> y </a:t>
            </a:r>
            <a:r>
              <a:rPr dirty="0" err="1"/>
              <a:t>Evaluaciones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70359"/>
              </p:ext>
            </p:extLst>
          </p:nvPr>
        </p:nvGraphicFramePr>
        <p:xfrm>
          <a:off x="252608" y="1465270"/>
          <a:ext cx="11686477" cy="4754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444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Hito / </a:t>
                      </a:r>
                      <a:r>
                        <a:rPr sz="1600" dirty="0" err="1"/>
                        <a:t>Evaluación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Periodo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Estimado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Finalidad Principal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 dirty="0" err="1"/>
                        <a:t>Inicio</a:t>
                      </a:r>
                      <a:r>
                        <a:rPr sz="1600" b="1" dirty="0"/>
                        <a:t> de </a:t>
                      </a:r>
                      <a:r>
                        <a:rPr sz="1600" b="1" dirty="0" err="1"/>
                        <a:t>Curso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1</a:t>
                      </a:r>
                      <a:r>
                        <a:rPr lang="es-ES" sz="1600" dirty="0"/>
                        <a:t>1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Septiembre</a:t>
                      </a:r>
                      <a:r>
                        <a:rPr sz="1600" dirty="0"/>
                        <a:t> de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Presentación, RRI, entornos virtuales (Raíces/Roble)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/>
                        <a:t>Evaluación Inicial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Finales de Octubre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 err="1"/>
                        <a:t>Detectar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nivel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partida</a:t>
                      </a:r>
                      <a:r>
                        <a:rPr sz="1600" dirty="0"/>
                        <a:t> y </a:t>
                      </a:r>
                      <a:r>
                        <a:rPr sz="1600" dirty="0" err="1"/>
                        <a:t>necesidades</a:t>
                      </a:r>
                      <a:r>
                        <a:rPr sz="1600" dirty="0"/>
                        <a:t> NEAE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 dirty="0"/>
                        <a:t>1ª </a:t>
                      </a:r>
                      <a:r>
                        <a:rPr sz="1600" b="1" dirty="0" err="1"/>
                        <a:t>Evaluación</a:t>
                      </a:r>
                      <a:r>
                        <a:rPr sz="1600" b="1" dirty="0"/>
                        <a:t> </a:t>
                      </a:r>
                      <a:r>
                        <a:rPr sz="1600" b="1" dirty="0" err="1"/>
                        <a:t>Parcial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Mediados de Diciembre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Primer control trimestral de </a:t>
                      </a:r>
                      <a:r>
                        <a:rPr sz="1600" dirty="0" err="1"/>
                        <a:t>los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Resultados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Aprendizaje</a:t>
                      </a:r>
                      <a:r>
                        <a:rPr sz="1600" dirty="0"/>
                        <a:t> (RA)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 dirty="0"/>
                        <a:t>2ª </a:t>
                      </a:r>
                      <a:r>
                        <a:rPr sz="1600" b="1" dirty="0" err="1"/>
                        <a:t>Evaluación</a:t>
                      </a:r>
                      <a:r>
                        <a:rPr sz="1600" b="1" dirty="0"/>
                        <a:t> </a:t>
                      </a:r>
                      <a:r>
                        <a:rPr sz="1600" b="1" dirty="0" err="1"/>
                        <a:t>Parcial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Inicios de Marzo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Cierre de </a:t>
                      </a:r>
                      <a:r>
                        <a:rPr sz="1600" dirty="0" err="1"/>
                        <a:t>bloques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teóricos</a:t>
                      </a:r>
                      <a:r>
                        <a:rPr sz="1600" dirty="0"/>
                        <a:t> de aula y </a:t>
                      </a:r>
                      <a:r>
                        <a:rPr sz="1600" dirty="0" err="1"/>
                        <a:t>preparación</a:t>
                      </a:r>
                      <a:r>
                        <a:rPr sz="1600" dirty="0"/>
                        <a:t> para </a:t>
                      </a:r>
                      <a:r>
                        <a:rPr sz="1600" dirty="0" err="1"/>
                        <a:t>empresa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/>
                        <a:t>Fase Dual / FCT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Marzo – Mayo/Junio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 err="1"/>
                        <a:t>Prácticas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en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empresas</a:t>
                      </a:r>
                      <a:r>
                        <a:rPr sz="1600" dirty="0"/>
                        <a:t> del sector </a:t>
                      </a:r>
                      <a:r>
                        <a:rPr sz="1600" dirty="0" err="1"/>
                        <a:t>informático</a:t>
                      </a:r>
                      <a:r>
                        <a:rPr sz="1600" dirty="0"/>
                        <a:t> y </a:t>
                      </a:r>
                      <a:r>
                        <a:rPr sz="1600" dirty="0" err="1"/>
                        <a:t>telecomunicaciones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/>
                        <a:t>Evaluación Final Ordinaria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Finales de Mayo / Inicios Junio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Cierre </a:t>
                      </a:r>
                      <a:r>
                        <a:rPr sz="1600" dirty="0" err="1"/>
                        <a:t>oficial</a:t>
                      </a:r>
                      <a:r>
                        <a:rPr sz="1600" dirty="0"/>
                        <a:t> del </a:t>
                      </a:r>
                      <a:r>
                        <a:rPr sz="1600" dirty="0" err="1"/>
                        <a:t>curso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lectivo</a:t>
                      </a:r>
                      <a:r>
                        <a:rPr sz="1600" dirty="0"/>
                        <a:t> y </a:t>
                      </a:r>
                      <a:r>
                        <a:rPr sz="1600" dirty="0" err="1"/>
                        <a:t>calificación</a:t>
                      </a:r>
                      <a:r>
                        <a:rPr sz="1600" dirty="0"/>
                        <a:t> 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b="1" dirty="0" err="1"/>
                        <a:t>Evaluación</a:t>
                      </a:r>
                      <a:r>
                        <a:rPr sz="1600" b="1" dirty="0"/>
                        <a:t> </a:t>
                      </a:r>
                      <a:r>
                        <a:rPr sz="1600" b="1" dirty="0" err="1"/>
                        <a:t>Extraordinaria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Mediados de Junio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 err="1"/>
                        <a:t>Pruebas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extraordinarias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recuperación</a:t>
                      </a:r>
                      <a:r>
                        <a:rPr sz="1600" dirty="0"/>
                        <a:t> para </a:t>
                      </a:r>
                      <a:r>
                        <a:rPr sz="1600" dirty="0" err="1"/>
                        <a:t>módulos</a:t>
                      </a:r>
                      <a:r>
                        <a:rPr sz="1600" dirty="0"/>
                        <a:t> no </a:t>
                      </a:r>
                      <a:r>
                        <a:rPr sz="1600" dirty="0" err="1"/>
                        <a:t>superados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276</Words>
  <Application>Microsoft Office PowerPoint</Application>
  <PresentationFormat>Panorámica</PresentationFormat>
  <Paragraphs>53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Llarena Borges, Ezequiel</cp:lastModifiedBy>
  <cp:revision>2</cp:revision>
  <dcterms:created xsi:type="dcterms:W3CDTF">2013-01-27T09:14:16Z</dcterms:created>
  <dcterms:modified xsi:type="dcterms:W3CDTF">2026-09-07T00:10:36Z</dcterms:modified>
  <cp:category/>
</cp:coreProperties>
</file>