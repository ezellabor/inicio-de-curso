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19"/>
  </p:notesMasterIdLst>
  <p:handoutMasterIdLst>
    <p:handoutMasterId r:id="rId20"/>
  </p:handoutMasterIdLst>
  <p:sldIdLst>
    <p:sldId id="257" r:id="rId2"/>
    <p:sldId id="275" r:id="rId3"/>
    <p:sldId id="259" r:id="rId4"/>
    <p:sldId id="260" r:id="rId5"/>
    <p:sldId id="264" r:id="rId6"/>
    <p:sldId id="265" r:id="rId7"/>
    <p:sldId id="266" r:id="rId8"/>
    <p:sldId id="274" r:id="rId9"/>
    <p:sldId id="267" r:id="rId10"/>
    <p:sldId id="282" r:id="rId11"/>
    <p:sldId id="268" r:id="rId12"/>
    <p:sldId id="269" r:id="rId13"/>
    <p:sldId id="270" r:id="rId14"/>
    <p:sldId id="283" r:id="rId15"/>
    <p:sldId id="281" r:id="rId16"/>
    <p:sldId id="284" r:id="rId17"/>
    <p:sldId id="278" r:id="rId18"/>
  </p:sldIdLst>
  <p:sldSz cx="12188825" cy="6858000"/>
  <p:notesSz cx="6858000" cy="9144000"/>
  <p:defaultTextStyle>
    <a:defPPr rtl="0">
      <a:defRPr lang="es-e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howGuides="1">
      <p:cViewPr>
        <p:scale>
          <a:sx n="75" d="100"/>
          <a:sy n="75" d="100"/>
        </p:scale>
        <p:origin x="974" y="283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outlineViewPr>
    <p:cViewPr>
      <p:scale>
        <a:sx n="33" d="100"/>
        <a:sy n="33" d="100"/>
      </p:scale>
      <p:origin x="0" y="-2886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3252" y="6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4581445-4071-4DA6-807C-9B9D9EE2AFE0}" type="datetime1">
              <a:rPr lang="es-ES" smtClean="0">
                <a:solidFill>
                  <a:schemeClr val="tx2"/>
                </a:solidFill>
              </a:rPr>
              <a:t>08/09/2026</a:t>
            </a:fld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FD77566-CD65-4859-9FA1-43956DC85B8C}" type="slidenum">
              <a:rPr lang="es-ES">
                <a:solidFill>
                  <a:schemeClr val="tx2"/>
                </a:solidFill>
              </a:rPr>
              <a:t>‹Nº›</a:t>
            </a:fld>
            <a:endParaRPr lang="es-E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672B92B9-0BD8-4AB2-AA33-BC48A23B8A04}" type="datetime1">
              <a:rPr lang="es-ES" noProof="0" smtClean="0"/>
              <a:t>08/09/2026</a:t>
            </a:fld>
            <a:endParaRPr lang="es-ES" noProof="0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B8796F01-7154-41E0-B48B-A6921757531A}" type="slidenum">
              <a:rPr lang="es-ES" noProof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8796F01-7154-41E0-B48B-A6921757531A}" type="slidenum">
              <a:rPr lang="es-ES" smtClean="0"/>
              <a:pPr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7705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B8796F01-7154-41E0-B48B-A6921757531A}" type="slidenum">
              <a:rPr lang="es-ES" smtClean="0"/>
              <a:pPr rtl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848047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796F01-7154-41E0-B48B-A6921757531A}" type="slidenum">
              <a:rPr lang="es-ES" smtClean="0"/>
              <a:pPr rtl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9843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796F01-7154-41E0-B48B-A6921757531A}" type="slidenum">
              <a:rPr lang="es-ES" smtClean="0"/>
              <a:pPr rtl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4029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796F01-7154-41E0-B48B-A6921757531A}" type="slidenum">
              <a:rPr lang="es-ES" smtClean="0"/>
              <a:pPr rtl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0068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796F01-7154-41E0-B48B-A6921757531A}" type="slidenum">
              <a:rPr lang="es-ES" smtClean="0"/>
              <a:pPr rtl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88672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796F01-7154-41E0-B48B-A6921757531A}" type="slidenum">
              <a:rPr lang="es-ES" smtClean="0"/>
              <a:pPr rtl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632627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796F01-7154-41E0-B48B-A6921757531A}" type="slidenum">
              <a:rPr lang="es-ES" smtClean="0"/>
              <a:pPr rtl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01800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796F01-7154-41E0-B48B-A6921757531A}" type="slidenum">
              <a:rPr lang="es-ES" smtClean="0"/>
              <a:pPr rtl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90190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796F01-7154-41E0-B48B-A6921757531A}" type="slidenum">
              <a:rPr lang="es-ES" smtClean="0"/>
              <a:pPr rtl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044309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796F01-7154-41E0-B48B-A6921757531A}" type="slidenum">
              <a:rPr lang="es-ES" smtClean="0"/>
              <a:pPr rtl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308660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796F01-7154-41E0-B48B-A6921757531A}" type="slidenum">
              <a:rPr lang="es-ES" smtClean="0"/>
              <a:pPr rtl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207963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796F01-7154-41E0-B48B-A6921757531A}" type="slidenum">
              <a:rPr lang="es-ES" smtClean="0"/>
              <a:pPr rtl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62927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796F01-7154-41E0-B48B-A6921757531A}" type="slidenum">
              <a:rPr lang="es-ES" smtClean="0"/>
              <a:pPr rtl="0"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4352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796F01-7154-41E0-B48B-A6921757531A}" type="slidenum">
              <a:rPr lang="es-ES" smtClean="0"/>
              <a:pPr rtl="0"/>
              <a:t>15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906314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B8796F01-7154-41E0-B48B-A6921757531A}" type="slidenum">
              <a:rPr lang="es-ES" smtClean="0"/>
              <a:pPr rtl="0"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056405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96F01-7154-41E0-B48B-A6921757531A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srgbClr val="44546A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251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/>
          <p:cNvGrpSpPr/>
          <p:nvPr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ángulo 12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 rtl="0"/>
              <a:endParaRPr lang="es-ES" noProof="0" dirty="0"/>
            </a:p>
          </p:txBody>
        </p:sp>
        <p:grpSp>
          <p:nvGrpSpPr>
            <p:cNvPr id="12" name="Grupo 11"/>
            <p:cNvGrpSpPr/>
            <p:nvPr/>
          </p:nvGrpSpPr>
          <p:grpSpPr>
            <a:xfrm>
              <a:off x="0" y="0"/>
              <a:ext cx="4742741" cy="6858000"/>
              <a:chOff x="0" y="0"/>
              <a:chExt cx="4742741" cy="6858000"/>
            </a:xfrm>
          </p:grpSpPr>
          <p:pic>
            <p:nvPicPr>
              <p:cNvPr id="9" name="Imagen 8" descr="Libros apilados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0" name="Rectángulo 9"/>
              <p:cNvSpPr/>
              <p:nvPr/>
            </p:nvSpPr>
            <p:spPr>
              <a:xfrm>
                <a:off x="4605581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s-ES" noProof="0" dirty="0"/>
              </a:p>
            </p:txBody>
          </p:sp>
        </p:grp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879346" y="1498601"/>
            <a:ext cx="7008574" cy="3298825"/>
          </a:xfrm>
        </p:spPr>
        <p:txBody>
          <a:bodyPr rtlCol="0"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79346" y="4927600"/>
            <a:ext cx="7008574" cy="12446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B702738-2322-469A-B933-AE0528DCDF1B}" type="datetime1">
              <a:rPr lang="es-ES" noProof="0" smtClean="0"/>
              <a:t>08/09/2026</a:t>
            </a:fld>
            <a:endParaRPr lang="es-ES" noProof="0" dirty="0"/>
          </a:p>
        </p:txBody>
      </p:sp>
      <p:sp>
        <p:nvSpPr>
          <p:cNvPr id="7" name="Marcador de posición de pie de página 6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11" name="Marcador de posición de número de diapositiva 10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322012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  <a:endParaRPr lang="es-ES" noProof="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E59B34-6A7F-44E9-B09D-AB0102A7D0C8}" type="datetime1">
              <a:rPr lang="es-ES" noProof="0" smtClean="0"/>
              <a:t>08/09/2026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A60BA0E-20D0-4E7C-B286-26C960A6788F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8653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o 11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4" name="Rectángulo 3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 rtl="0"/>
              <a:endParaRPr lang="es-ES" noProof="0" dirty="0"/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818" y="0"/>
              <a:ext cx="4591594" cy="6858000"/>
            </a:xfrm>
            <a:prstGeom prst="rect">
              <a:avLst/>
            </a:prstGeom>
          </p:spPr>
        </p:pic>
        <p:sp>
          <p:nvSpPr>
            <p:cNvPr id="11" name="Rectángulo 10"/>
            <p:cNvSpPr/>
            <p:nvPr/>
          </p:nvSpPr>
          <p:spPr>
            <a:xfrm>
              <a:off x="7481252" y="0"/>
              <a:ext cx="13716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s-ES" b="0" noProof="0" dirty="0">
                <a:solidFill>
                  <a:schemeClr val="tx2"/>
                </a:solidFill>
              </a:endParaRPr>
            </a:p>
          </p:txBody>
        </p:sp>
      </p:grpSp>
      <p:pic>
        <p:nvPicPr>
          <p:cNvPr id="5" name="Imagen 4" descr="Libros apilado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818" y="0"/>
            <a:ext cx="4591594" cy="6858000"/>
          </a:xfrm>
          <a:prstGeom prst="rect">
            <a:avLst/>
          </a:prstGeom>
        </p:spPr>
      </p:pic>
      <p:sp>
        <p:nvSpPr>
          <p:cNvPr id="7" name="Título 1"/>
          <p:cNvSpPr>
            <a:spLocks noGrp="1"/>
          </p:cNvSpPr>
          <p:nvPr>
            <p:ph type="ctrTitle"/>
          </p:nvPr>
        </p:nvSpPr>
        <p:spPr>
          <a:xfrm>
            <a:off x="237149" y="1498601"/>
            <a:ext cx="7008574" cy="3298825"/>
          </a:xfrm>
        </p:spPr>
        <p:txBody>
          <a:bodyPr rtlCol="0"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8" name="Subtítulo 2"/>
          <p:cNvSpPr>
            <a:spLocks noGrp="1"/>
          </p:cNvSpPr>
          <p:nvPr>
            <p:ph type="subTitle" idx="1"/>
          </p:nvPr>
        </p:nvSpPr>
        <p:spPr>
          <a:xfrm>
            <a:off x="237149" y="4927600"/>
            <a:ext cx="7008574" cy="12446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ES" noProof="0" dirty="0"/>
          </a:p>
        </p:txBody>
      </p:sp>
      <p:sp>
        <p:nvSpPr>
          <p:cNvPr id="2" name="Marcador de posición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933840-35B2-40B4-858E-99081AF3E99C}" type="datetime1">
              <a:rPr lang="es-ES" noProof="0" smtClean="0"/>
              <a:t>08/09/2026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05258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1117309" y="1701800"/>
            <a:ext cx="4977104" cy="44704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buFont typeface="Century Gothic" panose="020B0502020202020204" pitchFamily="34" charset="0"/>
              <a:buChar char="–"/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  <a:p>
            <a:pPr lvl="8" rtl="0"/>
            <a:endParaRPr lang="es-ES" noProof="0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297559" y="1701800"/>
            <a:ext cx="4977104" cy="44704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767B639-8212-42BD-8C4D-B9F216AE9493}" type="datetime1">
              <a:rPr lang="es-ES" noProof="0" smtClean="0"/>
              <a:t>08/09/2026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250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rtlCol="0" anchor="b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1117309" y="2209800"/>
            <a:ext cx="4977104" cy="39624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rtlCol="0" anchor="b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97559" y="2209800"/>
            <a:ext cx="4977104" cy="39624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7" name="Marcador de posición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F3D8850-0FEB-4D45-A71C-77139FFD196F}" type="datetime1">
              <a:rPr lang="es-ES" noProof="0" smtClean="0"/>
              <a:t>08/09/2026</a:t>
            </a:fld>
            <a:endParaRPr lang="es-ES" noProof="0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9200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71D217-6800-4023-BB72-23C2D8C44CAB}" type="datetime1">
              <a:rPr lang="es-ES" noProof="0" smtClean="0"/>
              <a:t>08/09/2026</a:t>
            </a:fld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3048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A3839D-3825-4B11-9F35-9863CC1E705D}" type="datetime1">
              <a:rPr lang="es-ES" noProof="0" smtClean="0"/>
              <a:t>08/09/2026</a:t>
            </a:fld>
            <a:endParaRPr lang="es-ES" noProof="0" dirty="0"/>
          </a:p>
        </p:txBody>
      </p:sp>
      <p:sp>
        <p:nvSpPr>
          <p:cNvPr id="3" name="Marcador de posición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95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5612" y="1701800"/>
            <a:ext cx="3351927" cy="2844800"/>
          </a:xfrm>
        </p:spPr>
        <p:txBody>
          <a:bodyPr rtlCol="0"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 hasCustomPrompt="1"/>
          </p:nvPr>
        </p:nvSpPr>
        <p:spPr>
          <a:xfrm>
            <a:off x="4469236" y="482600"/>
            <a:ext cx="6805427" cy="58928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418976" indent="-285750">
              <a:buFont typeface="Century Gothic" panose="020B0502020202020204" pitchFamily="34" charset="0"/>
              <a:buChar char="–"/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5612" y="4648200"/>
            <a:ext cx="3351927" cy="172720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9E77C8-ECB9-43A2-B866-9F93B70412AD}" type="datetime1">
              <a:rPr lang="es-ES" noProof="0" smtClean="0"/>
              <a:t>08/09/2026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DFBB78A-01B4-41F2-96B0-677A4A28283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8911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 rtl="0"/>
            <a:endParaRPr lang="es-E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rtlCol="0"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imagen 2" descr="Marcador de posición vacío para agregar una imagen. Haga clic en el marcador de posición y seleccione la imagen que desee agregar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pPr rtl="0"/>
            <a:r>
              <a:rPr lang="es-ES" noProof="0"/>
              <a:t>Haga clic en el icono para agregar una imagen</a:t>
            </a:r>
            <a:endParaRPr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Marcador de posición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B4EE502-D2E0-483E-B7B5-55E2E3202334}" type="datetime1">
              <a:rPr lang="es-ES" noProof="0" smtClean="0"/>
              <a:t>08/09/2026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DFBB78A-01B4-41F2-96B0-677A4A282832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52137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8FF88A1-5E51-4CC2-8EE5-868FD055FEFE}" type="datetime1">
              <a:rPr lang="es-ES" noProof="0" smtClean="0"/>
              <a:t>08/09/2026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91C5AD9-787D-40FA-8A4D-16A055B9AF8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1761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309" y="274638"/>
            <a:ext cx="8532178" cy="5897561"/>
          </a:xfrm>
        </p:spPr>
        <p:txBody>
          <a:bodyPr vert="eaVert" rtlCol="0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13A0803-D2E9-4E0C-BEA2-45E85428BC63}" type="datetime1">
              <a:rPr lang="es-ES" noProof="0" smtClean="0"/>
              <a:t>08/09/2026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591C5AD9-787D-40FA-8A4D-16A055B9AF81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72369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10" name="Rectángulo 9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 rtl="0"/>
              <a:endParaRPr lang="es-ES" noProof="0" dirty="0"/>
            </a:p>
          </p:txBody>
        </p:sp>
        <p:sp>
          <p:nvSpPr>
            <p:cNvPr id="8" name="Rectángulo 7"/>
            <p:cNvSpPr/>
            <p:nvPr/>
          </p:nvSpPr>
          <p:spPr>
            <a:xfrm>
              <a:off x="304721" y="0"/>
              <a:ext cx="11579384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 rtl="0"/>
              <a:endParaRPr lang="es-ES" noProof="0" dirty="0"/>
            </a:p>
          </p:txBody>
        </p:sp>
      </p:grpSp>
      <p:sp>
        <p:nvSpPr>
          <p:cNvPr id="2" name="Marcador de posición de título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s-ES" noProof="0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rtl="0"/>
            <a:fld id="{99A194EE-8823-4C71-9F2B-FC48C0496596}" type="datetime1">
              <a:rPr lang="es-ES" noProof="0" smtClean="0"/>
              <a:t>08/09/2026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Agregar un pie de página</a:t>
            </a: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rtl="0"/>
            <a:fld id="{EB37DED6-D4C7-42EE-AB49-D2E39E64FDE4}" type="slidenum">
              <a:rPr lang="es-ES" noProof="0" smtClean="0"/>
              <a:pPr rtl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estudios.ies.juandelacierva.madrid@educa.Madrid.or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hyperlink" Target="mailto:jefaturaciclos.ies.juandelacierva.madrid@educa.madrid.org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7149" y="1340768"/>
            <a:ext cx="7008574" cy="1944216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b">
            <a:noAutofit/>
          </a:bodyPr>
          <a:lstStyle/>
          <a:p>
            <a:pPr algn="ctr" rtl="0"/>
            <a:br>
              <a:rPr lang="es-ES" sz="6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</a:br>
            <a:br>
              <a:rPr lang="es-ES" sz="6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</a:br>
            <a:br>
              <a:rPr lang="es-ES" sz="6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</a:br>
            <a:r>
              <a:rPr lang="es-ES" sz="6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 TUTORES CCFF</a:t>
            </a:r>
            <a:br>
              <a:rPr lang="es-ES" sz="6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</a:br>
            <a:r>
              <a:rPr lang="es-ES" sz="6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2026-27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3791742-6739-E1DF-27F4-4D5BD9F406B0}"/>
              </a:ext>
            </a:extLst>
          </p:cNvPr>
          <p:cNvSpPr txBox="1"/>
          <p:nvPr/>
        </p:nvSpPr>
        <p:spPr>
          <a:xfrm flipH="1">
            <a:off x="2205980" y="3717032"/>
            <a:ext cx="4171178" cy="44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s-ES" b="1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  <a:t>septiembre de 2026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DD3C922-7E05-9E07-EF7B-DDD558A2A109}"/>
              </a:ext>
            </a:extLst>
          </p:cNvPr>
          <p:cNvSpPr txBox="1"/>
          <p:nvPr/>
        </p:nvSpPr>
        <p:spPr>
          <a:xfrm>
            <a:off x="3142084" y="5756164"/>
            <a:ext cx="4356484" cy="105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s-ES" sz="1100" b="1" dirty="0"/>
              <a:t>J. de Estudios Vespertino</a:t>
            </a:r>
            <a:r>
              <a:rPr lang="es-ES" sz="1100" dirty="0"/>
              <a:t>: José Alberto Rodríguez Muñoz</a:t>
            </a:r>
          </a:p>
          <a:p>
            <a:pPr>
              <a:lnSpc>
                <a:spcPct val="95000"/>
              </a:lnSpc>
            </a:pPr>
            <a:r>
              <a:rPr lang="es-ES" sz="1100" dirty="0">
                <a:hlinkClick r:id="rId3"/>
              </a:rPr>
              <a:t>Jestudios.ies.juandelacierva.madrid@educa.Madrid.org</a:t>
            </a:r>
            <a:endParaRPr lang="es-ES" sz="1100" dirty="0"/>
          </a:p>
          <a:p>
            <a:pPr>
              <a:lnSpc>
                <a:spcPct val="95000"/>
              </a:lnSpc>
            </a:pPr>
            <a:endParaRPr lang="es-ES" sz="1100" dirty="0"/>
          </a:p>
          <a:p>
            <a:pPr>
              <a:lnSpc>
                <a:spcPct val="95000"/>
              </a:lnSpc>
            </a:pPr>
            <a:r>
              <a:rPr lang="es-ES" sz="1100" b="1" dirty="0"/>
              <a:t>J. de Estudios adjunta Ciclos:</a:t>
            </a:r>
            <a:r>
              <a:rPr lang="es-ES" sz="1100" dirty="0"/>
              <a:t> Belén Fernández Rey</a:t>
            </a:r>
          </a:p>
          <a:p>
            <a:pPr>
              <a:lnSpc>
                <a:spcPct val="95000"/>
              </a:lnSpc>
            </a:pPr>
            <a:r>
              <a:rPr lang="es-ES" sz="1100" dirty="0">
                <a:hlinkClick r:id="rId4"/>
              </a:rPr>
              <a:t>jefaturaciclos.ies.juandelacierva.madrid@educa.madrid.org</a:t>
            </a:r>
            <a:endParaRPr lang="es-ES" sz="1100" dirty="0"/>
          </a:p>
          <a:p>
            <a:pPr>
              <a:lnSpc>
                <a:spcPct val="95000"/>
              </a:lnSpc>
            </a:pPr>
            <a:endParaRPr lang="es-ES" sz="11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62FF408-04D0-92D7-85B7-2534310D4930}"/>
              </a:ext>
            </a:extLst>
          </p:cNvPr>
          <p:cNvSpPr txBox="1"/>
          <p:nvPr/>
        </p:nvSpPr>
        <p:spPr>
          <a:xfrm>
            <a:off x="10676657" y="1102241"/>
            <a:ext cx="1512168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s-ES" sz="1000" b="1" i="1" dirty="0"/>
              <a:t>IES Juan de la Cierva</a:t>
            </a:r>
          </a:p>
        </p:txBody>
      </p:sp>
      <p:pic>
        <p:nvPicPr>
          <p:cNvPr id="4" name="Imagen 3" descr="Dibujo en fondo negro&#10;&#10;Descripción generada automáticamente con confianza baja">
            <a:extLst>
              <a:ext uri="{FF2B5EF4-FFF2-40B4-BE49-F238E27FC236}">
                <a16:creationId xmlns:a16="http://schemas.microsoft.com/office/drawing/2014/main" id="{05256EAD-FFF0-1567-FD6A-2B186B56C1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3979" y="94698"/>
            <a:ext cx="957523" cy="100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 rot="18759551">
            <a:off x="-932739" y="2926892"/>
            <a:ext cx="6769760" cy="1582280"/>
          </a:xfrm>
        </p:spPr>
        <p:txBody>
          <a:bodyPr vert="wordArtVert" wrap="square" rtlCol="0" anchor="b">
            <a:spAutoFit/>
          </a:bodyPr>
          <a:lstStyle/>
          <a:p>
            <a:pPr rtl="0"/>
            <a:r>
              <a:rPr lang="es-ES" sz="6600" dirty="0">
                <a:latin typeface="Cavolini" panose="03000502040302020204" pitchFamily="66" charset="0"/>
                <a:cs typeface="Cavolini" panose="03000502040302020204" pitchFamily="66" charset="0"/>
              </a:rPr>
              <a:t>ÍNDICE</a:t>
            </a:r>
          </a:p>
        </p:txBody>
      </p:sp>
      <p:sp>
        <p:nvSpPr>
          <p:cNvPr id="4" name="Pergamino: horizontal 3">
            <a:extLst>
              <a:ext uri="{FF2B5EF4-FFF2-40B4-BE49-F238E27FC236}">
                <a16:creationId xmlns:a16="http://schemas.microsoft.com/office/drawing/2014/main" id="{D982A7A0-FD1F-965B-1819-990BAA6AB00C}"/>
              </a:ext>
            </a:extLst>
          </p:cNvPr>
          <p:cNvSpPr/>
          <p:nvPr/>
        </p:nvSpPr>
        <p:spPr>
          <a:xfrm flipV="1">
            <a:off x="5159830" y="332656"/>
            <a:ext cx="2349975" cy="1448519"/>
          </a:xfrm>
          <a:prstGeom prst="horizontalScroll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Pergamino: horizontal 6">
            <a:extLst>
              <a:ext uri="{FF2B5EF4-FFF2-40B4-BE49-F238E27FC236}">
                <a16:creationId xmlns:a16="http://schemas.microsoft.com/office/drawing/2014/main" id="{9D66E5DD-9ED6-8999-9375-D92D0FC3C40D}"/>
              </a:ext>
            </a:extLst>
          </p:cNvPr>
          <p:cNvSpPr/>
          <p:nvPr/>
        </p:nvSpPr>
        <p:spPr>
          <a:xfrm rot="10800000" flipV="1">
            <a:off x="5158308" y="3861803"/>
            <a:ext cx="2349975" cy="1448519"/>
          </a:xfrm>
          <a:prstGeom prst="horizontalScroll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5. Alumnos con NEAE</a:t>
            </a:r>
          </a:p>
        </p:txBody>
      </p:sp>
      <p:sp>
        <p:nvSpPr>
          <p:cNvPr id="9" name="Pergamino: horizontal 8">
            <a:extLst>
              <a:ext uri="{FF2B5EF4-FFF2-40B4-BE49-F238E27FC236}">
                <a16:creationId xmlns:a16="http://schemas.microsoft.com/office/drawing/2014/main" id="{2E8888C7-949D-7CB8-B7B6-A013AEC27B70}"/>
              </a:ext>
            </a:extLst>
          </p:cNvPr>
          <p:cNvSpPr/>
          <p:nvPr/>
        </p:nvSpPr>
        <p:spPr>
          <a:xfrm rot="10800000" flipV="1">
            <a:off x="8470674" y="2207330"/>
            <a:ext cx="2349975" cy="1448519"/>
          </a:xfrm>
          <a:prstGeom prst="horizontalScroll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5000"/>
              </a:lnSpc>
            </a:pPr>
            <a:r>
              <a:rPr lang="es-ES" sz="20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4. </a:t>
            </a:r>
            <a:r>
              <a:rPr lang="es-ES" sz="18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Convivencia</a:t>
            </a:r>
            <a:r>
              <a:rPr lang="es-ES" sz="20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y protocolo de sanciones</a:t>
            </a:r>
          </a:p>
        </p:txBody>
      </p:sp>
      <p:sp>
        <p:nvSpPr>
          <p:cNvPr id="10" name="Pergamino: horizontal 9">
            <a:extLst>
              <a:ext uri="{FF2B5EF4-FFF2-40B4-BE49-F238E27FC236}">
                <a16:creationId xmlns:a16="http://schemas.microsoft.com/office/drawing/2014/main" id="{FEEC9314-879A-948F-ED0A-BAA19D4F0072}"/>
              </a:ext>
            </a:extLst>
          </p:cNvPr>
          <p:cNvSpPr/>
          <p:nvPr/>
        </p:nvSpPr>
        <p:spPr>
          <a:xfrm rot="10800000" flipV="1">
            <a:off x="8470675" y="447313"/>
            <a:ext cx="2349975" cy="1448519"/>
          </a:xfrm>
          <a:prstGeom prst="horizontalScroll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2. Calendario</a:t>
            </a:r>
          </a:p>
        </p:txBody>
      </p:sp>
      <p:sp>
        <p:nvSpPr>
          <p:cNvPr id="11" name="Pergamino: horizontal 10">
            <a:extLst>
              <a:ext uri="{FF2B5EF4-FFF2-40B4-BE49-F238E27FC236}">
                <a16:creationId xmlns:a16="http://schemas.microsoft.com/office/drawing/2014/main" id="{8DC4C03D-A712-58DF-361C-C484D7D9B003}"/>
              </a:ext>
            </a:extLst>
          </p:cNvPr>
          <p:cNvSpPr/>
          <p:nvPr/>
        </p:nvSpPr>
        <p:spPr>
          <a:xfrm rot="10800000" flipV="1">
            <a:off x="5155773" y="2175507"/>
            <a:ext cx="2349975" cy="1448519"/>
          </a:xfrm>
          <a:prstGeom prst="horizontalScroll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3. Casilleros y aula virtual</a:t>
            </a:r>
          </a:p>
        </p:txBody>
      </p:sp>
      <p:sp>
        <p:nvSpPr>
          <p:cNvPr id="12" name="Pergamino: horizontal 11">
            <a:extLst>
              <a:ext uri="{FF2B5EF4-FFF2-40B4-BE49-F238E27FC236}">
                <a16:creationId xmlns:a16="http://schemas.microsoft.com/office/drawing/2014/main" id="{EC93A2B8-54D8-C0A9-78FD-D31822C13343}"/>
              </a:ext>
            </a:extLst>
          </p:cNvPr>
          <p:cNvSpPr/>
          <p:nvPr/>
        </p:nvSpPr>
        <p:spPr>
          <a:xfrm rot="10800000" flipV="1">
            <a:off x="8438671" y="3992152"/>
            <a:ext cx="2349975" cy="1448519"/>
          </a:xfrm>
          <a:prstGeom prst="horizontalScroll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00" b="1" dirty="0">
              <a:latin typeface="Cavolini" panose="03000502040302020204" pitchFamily="66" charset="0"/>
              <a:cs typeface="Cavolini" panose="03000502040302020204" pitchFamily="66" charset="0"/>
            </a:endParaRPr>
          </a:p>
          <a:p>
            <a:pPr algn="ctr"/>
            <a:r>
              <a:rPr lang="es-ES" sz="18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6. Presentación de alumnos</a:t>
            </a:r>
          </a:p>
          <a:p>
            <a:pPr algn="ctr"/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D38563F-1F72-3451-172E-147D67C7BC45}"/>
              </a:ext>
            </a:extLst>
          </p:cNvPr>
          <p:cNvSpPr txBox="1"/>
          <p:nvPr/>
        </p:nvSpPr>
        <p:spPr>
          <a:xfrm>
            <a:off x="5495490" y="591331"/>
            <a:ext cx="1751050" cy="881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s-ES" sz="18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1. Entrada y salida del centro</a:t>
            </a:r>
          </a:p>
        </p:txBody>
      </p:sp>
      <p:sp>
        <p:nvSpPr>
          <p:cNvPr id="14" name="Pergamino: horizontal 13">
            <a:extLst>
              <a:ext uri="{FF2B5EF4-FFF2-40B4-BE49-F238E27FC236}">
                <a16:creationId xmlns:a16="http://schemas.microsoft.com/office/drawing/2014/main" id="{D21775BB-F475-4904-944B-CAD1F532EF1A}"/>
              </a:ext>
            </a:extLst>
          </p:cNvPr>
          <p:cNvSpPr/>
          <p:nvPr/>
        </p:nvSpPr>
        <p:spPr>
          <a:xfrm rot="10800000" flipV="1">
            <a:off x="6861166" y="5301208"/>
            <a:ext cx="2349975" cy="1448519"/>
          </a:xfrm>
          <a:prstGeom prst="horizontalScroll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8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7. Aulas</a:t>
            </a:r>
          </a:p>
          <a:p>
            <a:pPr algn="ctr"/>
            <a:r>
              <a:rPr lang="es-ES" sz="18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virtuales de gestión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49725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>
              <a:lnSpc>
                <a:spcPct val="95000"/>
              </a:lnSpc>
            </a:pPr>
            <a:r>
              <a:rPr lang="es-ES" sz="4400" b="1" dirty="0">
                <a:latin typeface="Cavolini" panose="03000502040302020204" pitchFamily="66" charset="0"/>
                <a:cs typeface="Cavolini" panose="03000502040302020204" pitchFamily="66" charset="0"/>
              </a:rPr>
              <a:t>1. Entrada y salida del centro</a:t>
            </a:r>
          </a:p>
        </p:txBody>
      </p:sp>
      <p:pic>
        <p:nvPicPr>
          <p:cNvPr id="8" name="Marcador de contenido 7" descr="Diagrama&#10;&#10;Descripción generada automáticamente">
            <a:extLst>
              <a:ext uri="{FF2B5EF4-FFF2-40B4-BE49-F238E27FC236}">
                <a16:creationId xmlns:a16="http://schemas.microsoft.com/office/drawing/2014/main" id="{8286C174-1540-5BF4-E5D2-B066E0218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549796" y="1786482"/>
            <a:ext cx="5208916" cy="3586734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DEC01A7-BFE3-60D6-344D-164AEC298D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4532" y="1556792"/>
            <a:ext cx="3810330" cy="484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92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15735" y="836712"/>
            <a:ext cx="10157354" cy="1933575"/>
          </a:xfrm>
        </p:spPr>
        <p:txBody>
          <a:bodyPr rtlCol="0">
            <a:normAutofit fontScale="90000"/>
          </a:bodyPr>
          <a:lstStyle/>
          <a:p>
            <a:br>
              <a:rPr lang="es-ES" sz="4400" b="1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r>
              <a:rPr lang="es-ES" sz="4400" b="1" dirty="0">
                <a:latin typeface="Cavolini" panose="03000502040302020204" pitchFamily="66" charset="0"/>
                <a:cs typeface="Cavolini" panose="03000502040302020204" pitchFamily="66" charset="0"/>
              </a:rPr>
              <a:t>2. Calendario </a:t>
            </a:r>
            <a:br>
              <a:rPr lang="es-ES" sz="4400" b="1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r>
              <a:rPr lang="es-ES" sz="2000" b="1" dirty="0">
                <a:solidFill>
                  <a:schemeClr val="bg1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web&gt;Enseñanzas&gt;&gt;Ciclos Formativos&gt;Calendario-enseñanzas-de-FP-2026-27</a:t>
            </a:r>
            <a:br>
              <a:rPr lang="es-ES" sz="2000" b="1" dirty="0">
                <a:solidFill>
                  <a:schemeClr val="bg1"/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r>
              <a:rPr lang="es-ES" sz="2000" b="1" dirty="0">
                <a:solidFill>
                  <a:schemeClr val="bg1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También disponible en Aula Virtual-&gt;Claustro</a:t>
            </a:r>
            <a:endParaRPr lang="es-ES" sz="4400" b="1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293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5860" y="116632"/>
            <a:ext cx="9721080" cy="1408584"/>
          </a:xfrm>
        </p:spPr>
        <p:txBody>
          <a:bodyPr rtlCol="0">
            <a:normAutofit/>
          </a:bodyPr>
          <a:lstStyle/>
          <a:p>
            <a: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3. Casilleros y aula virtual</a:t>
            </a: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ES" sz="4400" b="1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1125860" y="1493167"/>
            <a:ext cx="10449711" cy="4470400"/>
          </a:xfrm>
        </p:spPr>
        <p:txBody>
          <a:bodyPr vert="horz" lIns="121899" tIns="60949" rIns="121899" bIns="60949" rtlCol="0" anchor="t">
            <a:normAutofit/>
          </a:bodyPr>
          <a:lstStyle/>
          <a:p>
            <a:pPr marL="426085" lvl="1" indent="0">
              <a:buNone/>
            </a:pPr>
            <a:r>
              <a:rPr lang="es-ES" dirty="0">
                <a:sym typeface="Wingdings" panose="05000000000000000000" pitchFamily="2" charset="2"/>
              </a:rPr>
              <a:t>											                   </a:t>
            </a:r>
            <a:r>
              <a:rPr lang="es-ES" b="1" dirty="0">
                <a:sym typeface="Wingdings" panose="05000000000000000000" pitchFamily="2" charset="2"/>
              </a:rPr>
              <a:t>Comunicación de:</a:t>
            </a:r>
            <a:endParaRPr lang="es-ES"/>
          </a:p>
          <a:p>
            <a:pPr marL="426085" lvl="1" indent="0">
              <a:buNone/>
            </a:pPr>
            <a:r>
              <a:rPr lang="es-ES" dirty="0">
                <a:sym typeface="Wingdings" panose="05000000000000000000" pitchFamily="2" charset="2"/>
              </a:rPr>
              <a:t>                                                                    - Listado de alumnos  </a:t>
            </a:r>
            <a:endParaRPr lang="es-ES" dirty="0"/>
          </a:p>
          <a:p>
            <a:pPr marL="426085" lvl="1" indent="0">
              <a:buNone/>
            </a:pPr>
            <a:r>
              <a:rPr lang="es-ES" dirty="0">
                <a:sym typeface="Wingdings" panose="05000000000000000000" pitchFamily="2" charset="2"/>
              </a:rPr>
              <a:t>                                                                    - Documentación</a:t>
            </a:r>
            <a:endParaRPr lang="es-ES" dirty="0"/>
          </a:p>
          <a:p>
            <a:pPr marL="426085" lvl="1" indent="0">
              <a:buNone/>
            </a:pPr>
            <a:r>
              <a:rPr lang="es-ES" dirty="0">
                <a:sym typeface="Wingdings" panose="05000000000000000000" pitchFamily="2" charset="2"/>
              </a:rPr>
              <a:t>                                                                    - Carnés</a:t>
            </a:r>
            <a:endParaRPr lang="es-ES" dirty="0"/>
          </a:p>
          <a:p>
            <a:pPr marL="426085" lvl="1" indent="0">
              <a:buNone/>
            </a:pPr>
            <a:r>
              <a:rPr lang="es-ES" dirty="0">
                <a:sym typeface="Wingdings" panose="05000000000000000000" pitchFamily="2" charset="2"/>
              </a:rPr>
              <a:t>                                                                    - Credenciales </a:t>
            </a:r>
            <a:r>
              <a:rPr lang="es-ES" sz="1600" i="1" dirty="0">
                <a:sym typeface="Wingdings" panose="05000000000000000000" pitchFamily="2" charset="2"/>
              </a:rPr>
              <a:t>(</a:t>
            </a:r>
            <a:r>
              <a:rPr lang="es-ES" sz="1600" i="1" err="1">
                <a:sym typeface="Wingdings" panose="05000000000000000000" pitchFamily="2" charset="2"/>
              </a:rPr>
              <a:t>Educamadrid</a:t>
            </a:r>
            <a:r>
              <a:rPr lang="es-ES" sz="1600" i="1" dirty="0">
                <a:sym typeface="Wingdings" panose="05000000000000000000" pitchFamily="2" charset="2"/>
              </a:rPr>
              <a:t>, Roble</a:t>
            </a:r>
            <a:r>
              <a:rPr lang="es-ES" dirty="0">
                <a:solidFill>
                  <a:srgbClr val="00B050"/>
                </a:solidFill>
                <a:sym typeface="Wingdings" panose="05000000000000000000" pitchFamily="2" charset="2"/>
              </a:rPr>
              <a:t>)</a:t>
            </a:r>
            <a:endParaRPr lang="es-ES" dirty="0">
              <a:solidFill>
                <a:srgbClr val="00B050"/>
              </a:solidFill>
            </a:endParaRPr>
          </a:p>
          <a:p>
            <a:pPr marL="426085" lvl="1" indent="0">
              <a:buNone/>
            </a:pPr>
            <a:endParaRPr lang="es-ES" dirty="0"/>
          </a:p>
          <a:p>
            <a:pPr marL="426085" lvl="1" indent="0">
              <a:buNone/>
            </a:pPr>
            <a:endParaRPr lang="es-ES" dirty="0"/>
          </a:p>
          <a:p>
            <a:pPr marL="426085" lvl="1" indent="0">
              <a:buNone/>
            </a:pPr>
            <a:r>
              <a:rPr lang="es-ES" dirty="0">
                <a:sym typeface="Wingdings" panose="05000000000000000000" pitchFamily="2" charset="2"/>
              </a:rPr>
              <a:t>           </a:t>
            </a:r>
            <a:r>
              <a:rPr lang="es-ES" b="1" dirty="0">
                <a:sym typeface="Wingdings" panose="05000000000000000000" pitchFamily="2" charset="2"/>
              </a:rPr>
              <a:t>Sala de Profesores</a:t>
            </a:r>
            <a:endParaRPr lang="es-ES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9A2DF22-C9A4-9F60-5150-B377784CF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155" y="1556792"/>
            <a:ext cx="4816257" cy="3200677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868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5860" y="260648"/>
            <a:ext cx="10801200" cy="1944216"/>
          </a:xfrm>
        </p:spPr>
        <p:txBody>
          <a:bodyPr rtlCol="0">
            <a:normAutofit fontScale="90000"/>
          </a:bodyPr>
          <a:lstStyle/>
          <a:p>
            <a:br>
              <a:rPr lang="es-ES" sz="4400" b="1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r>
              <a:rPr lang="es-ES" sz="4400" b="1" dirty="0">
                <a:latin typeface="Cavolini"/>
                <a:cs typeface="Cavolini"/>
              </a:rPr>
              <a:t>4. </a:t>
            </a:r>
            <a:r>
              <a:rPr lang="es-ES" sz="4000" b="1" dirty="0">
                <a:latin typeface="Cavolini"/>
                <a:cs typeface="Cavolini"/>
              </a:rPr>
              <a:t>Convivencia</a:t>
            </a:r>
            <a:r>
              <a:rPr lang="es-ES" sz="4400" b="1" dirty="0">
                <a:latin typeface="Cavolini"/>
                <a:cs typeface="Cavolini"/>
              </a:rPr>
              <a:t> y protocolo de sanciones</a:t>
            </a:r>
            <a:br>
              <a:rPr lang="es-ES" sz="4400" b="1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ES" sz="4400" b="1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1125860" y="1493166"/>
            <a:ext cx="10449711" cy="4672137"/>
          </a:xfrm>
        </p:spPr>
        <p:txBody>
          <a:bodyPr vert="horz" lIns="121899" tIns="60949" rIns="121899" bIns="60949" rtlCol="0" anchor="t">
            <a:normAutofit fontScale="92500" lnSpcReduction="10000"/>
          </a:bodyPr>
          <a:lstStyle/>
          <a:p>
            <a:pPr marL="768985" lvl="1" indent="-342900">
              <a:buFont typeface="Wingdings" pitchFamily="34" charset="0"/>
              <a:buChar char="Ø"/>
            </a:pPr>
            <a:r>
              <a:rPr lang="es-ES" sz="2400" b="1" dirty="0">
                <a:solidFill>
                  <a:schemeClr val="bg1"/>
                </a:solidFill>
                <a:sym typeface="Wingdings" panose="05000000000000000000" pitchFamily="2" charset="2"/>
              </a:rPr>
              <a:t>¿Dónde encontrar Plan de convivencia y protocolos?										</a:t>
            </a:r>
            <a:endParaRPr lang="es-ES" dirty="0"/>
          </a:p>
          <a:p>
            <a:pPr marL="730885" lvl="1" indent="-304165">
              <a:buFont typeface="Courier New" panose="02070309020205020404" pitchFamily="49" charset="0"/>
              <a:buChar char="o"/>
            </a:pPr>
            <a:r>
              <a:rPr lang="es-ES" b="1" dirty="0">
                <a:sym typeface="Wingdings" panose="05000000000000000000" pitchFamily="2" charset="2"/>
              </a:rPr>
              <a:t> Web del centro &gt; Documentos                   Aula Virtual &gt; Claustro</a:t>
            </a:r>
            <a:endParaRPr lang="es-ES" b="1" dirty="0"/>
          </a:p>
          <a:p>
            <a:pPr marL="426085" lvl="1" indent="0">
              <a:buNone/>
            </a:pPr>
            <a:endParaRPr lang="es-ES" b="1" dirty="0"/>
          </a:p>
          <a:p>
            <a:pPr marL="426085" lvl="1" indent="0">
              <a:buNone/>
            </a:pPr>
            <a:endParaRPr lang="es-ES" b="1" dirty="0"/>
          </a:p>
          <a:p>
            <a:pPr marL="426085" lvl="1" indent="0">
              <a:buNone/>
            </a:pPr>
            <a:endParaRPr lang="es-ES" b="1" dirty="0"/>
          </a:p>
          <a:p>
            <a:pPr marL="426085" lvl="1" indent="0">
              <a:buNone/>
            </a:pPr>
            <a:endParaRPr lang="es-ES" b="1" dirty="0"/>
          </a:p>
          <a:p>
            <a:pPr marL="426085" lvl="1" indent="0">
              <a:buNone/>
            </a:pPr>
            <a:endParaRPr lang="es-ES" b="1" dirty="0"/>
          </a:p>
          <a:p>
            <a:pPr marL="426085" lvl="1" indent="0">
              <a:buNone/>
            </a:pPr>
            <a:endParaRPr lang="es-ES" b="1" dirty="0"/>
          </a:p>
          <a:p>
            <a:pPr marL="426085" lvl="1" indent="0">
              <a:buNone/>
            </a:pPr>
            <a:endParaRPr lang="es-ES" b="1" dirty="0"/>
          </a:p>
          <a:p>
            <a:pPr marL="426085" lvl="1" indent="0">
              <a:buNone/>
            </a:pPr>
            <a:endParaRPr lang="es-ES" b="1" dirty="0"/>
          </a:p>
          <a:p>
            <a:pPr marL="730885" lvl="1" indent="-304165">
              <a:buFont typeface="Courier New" panose="02070309020205020404" pitchFamily="49" charset="0"/>
              <a:buChar char="o"/>
            </a:pPr>
            <a:r>
              <a:rPr lang="es-ES" b="1" dirty="0">
                <a:sym typeface="Wingdings" panose="05000000000000000000" pitchFamily="2" charset="2"/>
              </a:rPr>
              <a:t>Partes autocopiativos. En Jefatura.</a:t>
            </a:r>
            <a:endParaRPr lang="es-ES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D4ED13-A5E6-4D35-BCA0-D0A4ED95E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1964" y="2780928"/>
            <a:ext cx="3727793" cy="2520280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C2DEBD2-3D0F-441E-AF2B-A951EAE518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540" y="2780928"/>
            <a:ext cx="2664296" cy="2896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1654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62760" y="-2312"/>
            <a:ext cx="10801200" cy="2592288"/>
          </a:xfrm>
        </p:spPr>
        <p:txBody>
          <a:bodyPr rtlCol="0">
            <a:normAutofit fontScale="90000"/>
          </a:bodyPr>
          <a:lstStyle/>
          <a:p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5. Alumnos con NEAE</a:t>
            </a: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ES" sz="4400" b="1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1115343" y="1181371"/>
            <a:ext cx="10456506" cy="5405710"/>
          </a:xfrm>
        </p:spPr>
        <p:txBody>
          <a:bodyPr vert="horz" lIns="121899" tIns="60949" rIns="121899" bIns="60949" rtlCol="0" anchor="t">
            <a:normAutofit/>
          </a:bodyPr>
          <a:lstStyle/>
          <a:p>
            <a:pPr marL="730885" lvl="1" indent="-304165">
              <a:buFont typeface="Wingdings" panose="05000000000000000000" pitchFamily="2" charset="2"/>
              <a:buChar char="Ø"/>
            </a:pPr>
            <a:r>
              <a:rPr lang="es-ES" b="1" dirty="0">
                <a:sym typeface="Wingdings" panose="05000000000000000000" pitchFamily="2" charset="2"/>
              </a:rPr>
              <a:t>Listado alumnos con NEAE ya registradas en Raíces</a:t>
            </a:r>
            <a:endParaRPr lang="es-ES" dirty="0"/>
          </a:p>
          <a:p>
            <a:pPr marL="1622425" lvl="3" indent="-342900">
              <a:buFont typeface="Courier New" pitchFamily="34" charset="0"/>
              <a:buChar char="o"/>
            </a:pPr>
            <a:r>
              <a:rPr lang="es-ES" dirty="0">
                <a:sym typeface="Wingdings" panose="05000000000000000000" pitchFamily="2" charset="2"/>
              </a:rPr>
              <a:t>Compartido en aula virtual</a:t>
            </a:r>
            <a:endParaRPr lang="es-ES" dirty="0"/>
          </a:p>
          <a:p>
            <a:pPr marL="730885" lvl="1" indent="-304165">
              <a:buFont typeface="Wingdings" panose="05000000000000000000" pitchFamily="2" charset="2"/>
              <a:buChar char="Ø"/>
            </a:pPr>
            <a:r>
              <a:rPr lang="es-ES" b="1" dirty="0">
                <a:sym typeface="Wingdings" panose="05000000000000000000" pitchFamily="2" charset="2"/>
              </a:rPr>
              <a:t>Alumnos nuevos</a:t>
            </a:r>
            <a:endParaRPr lang="es-ES" b="1" dirty="0"/>
          </a:p>
          <a:p>
            <a:pPr marL="1622425" lvl="3" indent="-342900">
              <a:buFont typeface="Courier New" pitchFamily="34" charset="0"/>
              <a:buChar char="o"/>
            </a:pPr>
            <a:r>
              <a:rPr lang="es-ES" dirty="0">
                <a:sym typeface="Wingdings" panose="05000000000000000000" pitchFamily="2" charset="2"/>
              </a:rPr>
              <a:t>Deberán presentar en secretaria un informe.</a:t>
            </a:r>
            <a:endParaRPr lang="es-ES" sz="1600" dirty="0">
              <a:sym typeface="Wingdings" panose="05000000000000000000" pitchFamily="2" charset="2"/>
            </a:endParaRPr>
          </a:p>
          <a:p>
            <a:pPr marL="1622425" lvl="3" indent="-342900">
              <a:buClr>
                <a:srgbClr val="385723"/>
              </a:buClr>
              <a:buFont typeface="Courier New" pitchFamily="34" charset="0"/>
              <a:buChar char="o"/>
            </a:pPr>
            <a:r>
              <a:rPr lang="es-ES" dirty="0">
                <a:sym typeface="Wingdings" panose="05000000000000000000" pitchFamily="2" charset="2"/>
              </a:rPr>
              <a:t>Una vez considerado en Orientación, se comunicará a profesores implicados.</a:t>
            </a:r>
            <a:endParaRPr lang="es-ES" dirty="0"/>
          </a:p>
          <a:p>
            <a:pPr marL="426085" lvl="1" indent="0">
              <a:buNone/>
            </a:pPr>
            <a:endParaRPr lang="es-ES" b="1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B8BB931E-E7E7-438B-B9DB-5D83A7146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561" y="3540797"/>
            <a:ext cx="5487954" cy="3208343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1296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5860" y="-44386"/>
            <a:ext cx="10801200" cy="2592288"/>
          </a:xfrm>
        </p:spPr>
        <p:txBody>
          <a:bodyPr rtlCol="0">
            <a:normAutofit fontScale="90000"/>
          </a:bodyPr>
          <a:lstStyle/>
          <a:p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5. Alumnos con NEAE</a:t>
            </a: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ES" sz="4400" b="1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1048161" y="1034113"/>
            <a:ext cx="10657688" cy="5342600"/>
          </a:xfrm>
        </p:spPr>
        <p:txBody>
          <a:bodyPr vert="horz" lIns="121899" tIns="60949" rIns="121899" bIns="60949" rtlCol="0" anchor="t">
            <a:normAutofit/>
          </a:bodyPr>
          <a:lstStyle/>
          <a:p>
            <a:pPr marL="730885" lvl="1" indent="-304165">
              <a:buFont typeface="Wingdings" panose="05000000000000000000" pitchFamily="2" charset="2"/>
              <a:buChar char="Ø"/>
            </a:pPr>
            <a:r>
              <a:rPr lang="es-ES" b="1" dirty="0">
                <a:sym typeface="Wingdings" panose="05000000000000000000" pitchFamily="2" charset="2"/>
              </a:rPr>
              <a:t>Medidas metodológicas/procedimiento de evaluación.</a:t>
            </a:r>
            <a:endParaRPr lang="es-ES" dirty="0"/>
          </a:p>
          <a:p>
            <a:pPr marL="768985" lvl="1" indent="-342900">
              <a:buFont typeface="Courier New" pitchFamily="34" charset="0"/>
              <a:buChar char="o"/>
            </a:pPr>
            <a:r>
              <a:rPr lang="es-ES" b="1" dirty="0">
                <a:sym typeface="Wingdings" panose="05000000000000000000" pitchFamily="2" charset="2"/>
              </a:rPr>
              <a:t> </a:t>
            </a:r>
            <a:r>
              <a:rPr lang="es-ES" dirty="0">
                <a:sym typeface="Wingdings" panose="05000000000000000000" pitchFamily="2" charset="2"/>
              </a:rPr>
              <a:t>Documento compartido en aula virtual. </a:t>
            </a:r>
            <a:endParaRPr lang="es-ES" dirty="0"/>
          </a:p>
          <a:p>
            <a:pPr marL="768985" lvl="1" indent="-342900">
              <a:buFont typeface="Courier New" pitchFamily="34" charset="0"/>
              <a:buChar char="o"/>
            </a:pPr>
            <a:r>
              <a:rPr lang="es-ES" dirty="0">
                <a:sym typeface="Wingdings" panose="05000000000000000000" pitchFamily="2" charset="2"/>
              </a:rPr>
              <a:t>Para más información, consultar 	Departamento de Orientación.</a:t>
            </a:r>
            <a:endParaRPr lang="es-ES" dirty="0"/>
          </a:p>
          <a:p>
            <a:pPr marL="426085" lvl="1" indent="0">
              <a:buNone/>
            </a:pPr>
            <a:endParaRPr lang="es-ES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B67B02-99E1-4CF7-9362-31BD43A21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729" y="2322040"/>
            <a:ext cx="4311099" cy="4445349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44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5860" y="332656"/>
            <a:ext cx="10801200" cy="1080120"/>
          </a:xfrm>
        </p:spPr>
        <p:txBody>
          <a:bodyPr rtlCol="0">
            <a:normAutofit fontScale="90000"/>
          </a:bodyPr>
          <a:lstStyle/>
          <a:p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ES" sz="4400" b="1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BBB641-5020-D705-ACF5-A0F670AF6CA6}"/>
              </a:ext>
            </a:extLst>
          </p:cNvPr>
          <p:cNvSpPr txBox="1"/>
          <p:nvPr/>
        </p:nvSpPr>
        <p:spPr>
          <a:xfrm>
            <a:off x="226151" y="334107"/>
            <a:ext cx="89605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ea typeface="+mj-ea"/>
                <a:cs typeface="Cavolini" panose="03000502040302020204" pitchFamily="66" charset="0"/>
              </a:rPr>
              <a:t>6. Presentación</a:t>
            </a:r>
            <a:r>
              <a:rPr lang="es-ES" sz="2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s-ES" sz="40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ea typeface="+mj-ea"/>
                <a:cs typeface="Cavolini" panose="03000502040302020204" pitchFamily="66" charset="0"/>
              </a:rPr>
              <a:t>de alumnos</a:t>
            </a:r>
          </a:p>
          <a:p>
            <a:pPr algn="ctr"/>
            <a:r>
              <a:rPr lang="es-ES" sz="2400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(10 de septiembre)</a:t>
            </a:r>
          </a:p>
        </p:txBody>
      </p:sp>
      <p:sp>
        <p:nvSpPr>
          <p:cNvPr id="8" name="Marcador de posición de contenido 2">
            <a:extLst>
              <a:ext uri="{FF2B5EF4-FFF2-40B4-BE49-F238E27FC236}">
                <a16:creationId xmlns:a16="http://schemas.microsoft.com/office/drawing/2014/main" id="{9255300F-C217-27EB-3C93-9DAD641F7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0" y="1701800"/>
            <a:ext cx="10156825" cy="4470400"/>
          </a:xfrm>
        </p:spPr>
        <p:txBody>
          <a:bodyPr rtlCol="0">
            <a:normAutofit fontScale="92500" lnSpcReduction="10000"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ym typeface="Wingdings" panose="05000000000000000000" pitchFamily="2" charset="2"/>
              </a:rPr>
              <a:t>Recoger </a:t>
            </a:r>
            <a:r>
              <a:rPr lang="es-ES" b="1" dirty="0">
                <a:sym typeface="Wingdings" panose="05000000000000000000" pitchFamily="2" charset="2"/>
              </a:rPr>
              <a:t>datos personales </a:t>
            </a:r>
            <a:r>
              <a:rPr lang="es-ES" b="1" dirty="0">
                <a:solidFill>
                  <a:srgbClr val="FF0000"/>
                </a:solidFill>
                <a:sym typeface="Wingdings" panose="05000000000000000000" pitchFamily="2" charset="2"/>
              </a:rPr>
              <a:t>completos</a:t>
            </a:r>
            <a:r>
              <a:rPr lang="es-ES" b="1" dirty="0">
                <a:sym typeface="Wingdings" panose="05000000000000000000" pitchFamily="2" charset="2"/>
              </a:rPr>
              <a:t> </a:t>
            </a:r>
            <a:r>
              <a:rPr lang="es-ES" dirty="0">
                <a:sym typeface="Wingdings" panose="05000000000000000000" pitchFamily="2" charset="2"/>
              </a:rPr>
              <a:t>de los alumnos según Excel jefatura en </a:t>
            </a:r>
            <a:r>
              <a:rPr lang="es-ES" dirty="0">
                <a:solidFill>
                  <a:srgbClr val="FF0000"/>
                </a:solidFill>
                <a:sym typeface="Wingdings" panose="05000000000000000000" pitchFamily="2" charset="2"/>
              </a:rPr>
              <a:t>Aula Virtual Tutores</a:t>
            </a:r>
            <a:r>
              <a:rPr lang="es-ES" dirty="0">
                <a:sym typeface="Wingdings" panose="05000000000000000000" pitchFamily="2" charset="2"/>
              </a:rPr>
              <a:t>. </a:t>
            </a:r>
            <a:r>
              <a:rPr lang="es-ES" b="1" dirty="0">
                <a:sym typeface="Wingdings" panose="05000000000000000000" pitchFamily="2" charset="2"/>
              </a:rPr>
              <a:t>Subir datos</a:t>
            </a:r>
            <a:r>
              <a:rPr lang="es-ES" dirty="0">
                <a:sym typeface="Wingdings" panose="05000000000000000000" pitchFamily="2" charset="2"/>
              </a:rPr>
              <a:t> fecha </a:t>
            </a:r>
            <a:r>
              <a:rPr lang="es-ES" b="1" dirty="0">
                <a:sym typeface="Wingdings" panose="05000000000000000000" pitchFamily="2" charset="2"/>
              </a:rPr>
              <a:t>límite</a:t>
            </a:r>
            <a:r>
              <a:rPr lang="es-ES" dirty="0">
                <a:sym typeface="Wingdings" panose="05000000000000000000" pitchFamily="2" charset="2"/>
              </a:rPr>
              <a:t> de entrega </a:t>
            </a:r>
            <a:r>
              <a:rPr lang="es-ES" b="1" dirty="0">
                <a:sym typeface="Wingdings" panose="05000000000000000000" pitchFamily="2" charset="2"/>
              </a:rPr>
              <a:t>25 de septiembre </a:t>
            </a:r>
            <a:r>
              <a:rPr lang="es-ES" sz="1900" dirty="0">
                <a:sym typeface="Wingdings" panose="05000000000000000000" pitchFamily="2" charset="2"/>
              </a:rPr>
              <a:t>(</a:t>
            </a:r>
            <a:r>
              <a:rPr lang="es-ES" sz="1900" dirty="0">
                <a:solidFill>
                  <a:srgbClr val="FF0000"/>
                </a:solidFill>
                <a:sym typeface="Wingdings" panose="05000000000000000000" pitchFamily="2" charset="2"/>
              </a:rPr>
              <a:t>actualizar</a:t>
            </a:r>
            <a:r>
              <a:rPr lang="es-ES" sz="1900" dirty="0">
                <a:sym typeface="Wingdings" panose="05000000000000000000" pitchFamily="2" charset="2"/>
              </a:rPr>
              <a:t> los datos alumnos incorporados tardíamente al curso). </a:t>
            </a:r>
            <a:r>
              <a:rPr lang="es-ES" sz="2000" dirty="0">
                <a:sym typeface="Wingdings" panose="05000000000000000000" pitchFamily="2" charset="2"/>
              </a:rPr>
              <a:t>El tutor hará uso de esos datos, tras reunión extraordinaria de final de curso, para completar un</a:t>
            </a:r>
            <a:r>
              <a:rPr lang="es-ES" sz="2000" b="1" dirty="0">
                <a:sym typeface="Wingdings" panose="05000000000000000000" pitchFamily="2" charset="2"/>
              </a:rPr>
              <a:t> </a:t>
            </a:r>
            <a:r>
              <a:rPr lang="es-ES" sz="2000" b="1" dirty="0" err="1">
                <a:sym typeface="Wingdings" panose="05000000000000000000" pitchFamily="2" charset="2"/>
              </a:rPr>
              <a:t>excel</a:t>
            </a:r>
            <a:r>
              <a:rPr lang="es-ES" sz="2000" b="1" dirty="0">
                <a:sym typeface="Wingdings" panose="05000000000000000000" pitchFamily="2" charset="2"/>
              </a:rPr>
              <a:t>  (FFE y/o PROYECTO PENDIENTE) </a:t>
            </a:r>
            <a:r>
              <a:rPr lang="es-ES" sz="2000" dirty="0">
                <a:sym typeface="Wingdings" panose="05000000000000000000" pitchFamily="2" charset="2"/>
              </a:rPr>
              <a:t>que quedará a disposición del tutor del siguiente curso en el AV.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ym typeface="Wingdings" panose="05000000000000000000" pitchFamily="2" charset="2"/>
              </a:rPr>
              <a:t>Presentar </a:t>
            </a:r>
            <a:r>
              <a:rPr lang="es-ES" b="1" dirty="0">
                <a:sym typeface="Wingdings" panose="05000000000000000000" pitchFamily="2" charset="2"/>
              </a:rPr>
              <a:t>horario </a:t>
            </a:r>
            <a:r>
              <a:rPr lang="es-ES" dirty="0">
                <a:sym typeface="Wingdings" panose="05000000000000000000" pitchFamily="2" charset="2"/>
              </a:rPr>
              <a:t>de entrada y salida al centro.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ym typeface="Wingdings" panose="05000000000000000000" pitchFamily="2" charset="2"/>
              </a:rPr>
              <a:t>FECHA: </a:t>
            </a:r>
            <a:r>
              <a:rPr lang="es-ES" b="1" dirty="0">
                <a:sym typeface="Wingdings" panose="05000000000000000000" pitchFamily="2" charset="2"/>
              </a:rPr>
              <a:t>10 septiembre</a:t>
            </a:r>
            <a:r>
              <a:rPr lang="es-ES" dirty="0">
                <a:sym typeface="Wingdings" panose="05000000000000000000" pitchFamily="2" charset="2"/>
              </a:rPr>
              <a:t>. (Biblioteca con tutor)</a:t>
            </a:r>
          </a:p>
          <a:p>
            <a:pPr marL="1157605" lvl="2" indent="-304165">
              <a:buFont typeface="Courier New" panose="020B0604020202020204" pitchFamily="34" charset="0"/>
              <a:buChar char="o"/>
            </a:pPr>
            <a:r>
              <a:rPr lang="es-ES" sz="2000" b="1" dirty="0">
                <a:sym typeface="Wingdings" panose="05000000000000000000" pitchFamily="2" charset="2"/>
              </a:rPr>
              <a:t>Diurno</a:t>
            </a:r>
            <a:r>
              <a:rPr lang="es-ES" sz="2000" dirty="0">
                <a:sym typeface="Wingdings" panose="05000000000000000000" pitchFamily="2" charset="2"/>
              </a:rPr>
              <a:t>: </a:t>
            </a:r>
            <a:r>
              <a:rPr lang="es-ES" sz="2000" b="1" dirty="0">
                <a:sym typeface="Wingdings" panose="05000000000000000000" pitchFamily="2" charset="2"/>
              </a:rPr>
              <a:t>09:30h</a:t>
            </a:r>
            <a:r>
              <a:rPr lang="es-ES" sz="2000" dirty="0">
                <a:sym typeface="Wingdings" panose="05000000000000000000" pitchFamily="2" charset="2"/>
              </a:rPr>
              <a:t>: 1º Grado Básico y Medio.</a:t>
            </a:r>
            <a:endParaRPr lang="es-ES" sz="2000" dirty="0"/>
          </a:p>
          <a:p>
            <a:pPr marL="852805" lvl="2" indent="0">
              <a:buNone/>
            </a:pPr>
            <a:r>
              <a:rPr lang="es-ES" sz="2000" b="1" dirty="0">
                <a:sym typeface="Wingdings" panose="05000000000000000000" pitchFamily="2" charset="2"/>
              </a:rPr>
              <a:t>                 11:30h</a:t>
            </a:r>
            <a:r>
              <a:rPr lang="es-ES" sz="2000" dirty="0">
                <a:sym typeface="Wingdings" panose="05000000000000000000" pitchFamily="2" charset="2"/>
              </a:rPr>
              <a:t>: 1º Grado Superior.</a:t>
            </a:r>
          </a:p>
          <a:p>
            <a:pPr marL="852805" lvl="2" indent="0">
              <a:buNone/>
            </a:pPr>
            <a:r>
              <a:rPr lang="es-ES" sz="2000" b="1" dirty="0">
                <a:sym typeface="Wingdings" panose="05000000000000000000" pitchFamily="2" charset="2"/>
              </a:rPr>
              <a:t>                </a:t>
            </a:r>
            <a:endParaRPr lang="es-ES" sz="2000" dirty="0">
              <a:sym typeface="Wingdings" panose="05000000000000000000" pitchFamily="2" charset="2"/>
            </a:endParaRPr>
          </a:p>
          <a:p>
            <a:pPr marL="1195705" lvl="2" indent="-342900">
              <a:buFont typeface="Courier New" panose="02070309020205020404" pitchFamily="49" charset="0"/>
              <a:buChar char="o"/>
            </a:pPr>
            <a:r>
              <a:rPr lang="es-ES" sz="2000" b="1" dirty="0">
                <a:sym typeface="Wingdings" panose="05000000000000000000" pitchFamily="2" charset="2"/>
              </a:rPr>
              <a:t>Vespertino</a:t>
            </a:r>
            <a:r>
              <a:rPr lang="es-ES" sz="2000" dirty="0">
                <a:sym typeface="Wingdings" panose="05000000000000000000" pitchFamily="2" charset="2"/>
              </a:rPr>
              <a:t>: </a:t>
            </a:r>
            <a:r>
              <a:rPr lang="es-ES" sz="2000" b="1" dirty="0">
                <a:sym typeface="Wingdings" panose="05000000000000000000" pitchFamily="2" charset="2"/>
              </a:rPr>
              <a:t>16:30h</a:t>
            </a:r>
            <a:r>
              <a:rPr lang="es-ES" sz="2000" dirty="0">
                <a:sym typeface="Wingdings" panose="05000000000000000000" pitchFamily="2" charset="2"/>
              </a:rPr>
              <a:t>: 1º Grado Medio. </a:t>
            </a:r>
            <a:endParaRPr lang="es-ES" sz="2000" dirty="0"/>
          </a:p>
          <a:p>
            <a:pPr marL="852805" lvl="2" indent="0">
              <a:buNone/>
            </a:pPr>
            <a:r>
              <a:rPr lang="es-ES" sz="2000" dirty="0">
                <a:sym typeface="Wingdings" panose="05000000000000000000" pitchFamily="2" charset="2"/>
              </a:rPr>
              <a:t>                          </a:t>
            </a:r>
            <a:r>
              <a:rPr lang="es-ES" sz="2000" b="1" dirty="0">
                <a:sym typeface="Wingdings" panose="05000000000000000000" pitchFamily="2" charset="2"/>
              </a:rPr>
              <a:t>18:30h:</a:t>
            </a:r>
            <a:r>
              <a:rPr lang="es-ES" sz="2000" dirty="0">
                <a:sym typeface="Wingdings" panose="05000000000000000000" pitchFamily="2" charset="2"/>
              </a:rPr>
              <a:t> 1º Grado Superior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s-E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66009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5860" y="332656"/>
            <a:ext cx="10801200" cy="1080120"/>
          </a:xfrm>
        </p:spPr>
        <p:txBody>
          <a:bodyPr rtlCol="0">
            <a:normAutofit fontScale="90000"/>
          </a:bodyPr>
          <a:lstStyle/>
          <a:p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ES" sz="4400" b="1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BBB641-5020-D705-ACF5-A0F670AF6CA6}"/>
              </a:ext>
            </a:extLst>
          </p:cNvPr>
          <p:cNvSpPr txBox="1"/>
          <p:nvPr/>
        </p:nvSpPr>
        <p:spPr>
          <a:xfrm>
            <a:off x="226151" y="334107"/>
            <a:ext cx="89605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40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ea typeface="+mj-ea"/>
                <a:cs typeface="Cavolini" panose="03000502040302020204" pitchFamily="66" charset="0"/>
              </a:rPr>
              <a:t>6. Presentación</a:t>
            </a:r>
            <a:r>
              <a:rPr lang="es-ES" sz="2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  <a:r>
              <a:rPr lang="es-ES" sz="40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ea typeface="+mj-ea"/>
                <a:cs typeface="Cavolini" panose="03000502040302020204" pitchFamily="66" charset="0"/>
              </a:rPr>
              <a:t>de alumnos</a:t>
            </a:r>
          </a:p>
          <a:p>
            <a:pPr algn="ctr"/>
            <a:r>
              <a:rPr lang="es-ES" sz="2400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(10 de septiembre)</a:t>
            </a:r>
          </a:p>
        </p:txBody>
      </p:sp>
      <p:sp>
        <p:nvSpPr>
          <p:cNvPr id="8" name="Marcador de posición de contenido 2">
            <a:extLst>
              <a:ext uri="{FF2B5EF4-FFF2-40B4-BE49-F238E27FC236}">
                <a16:creationId xmlns:a16="http://schemas.microsoft.com/office/drawing/2014/main" id="{9255300F-C217-27EB-3C93-9DAD641F7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0" y="1701800"/>
            <a:ext cx="10156825" cy="4470400"/>
          </a:xfrm>
        </p:spPr>
        <p:txBody>
          <a:bodyPr rtlCol="0"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ym typeface="Wingdings" panose="05000000000000000000" pitchFamily="2" charset="2"/>
              </a:rPr>
              <a:t>FECHA: </a:t>
            </a:r>
            <a:r>
              <a:rPr lang="es-ES" b="1" dirty="0">
                <a:sym typeface="Wingdings" panose="05000000000000000000" pitchFamily="2" charset="2"/>
              </a:rPr>
              <a:t>10 septiembre</a:t>
            </a:r>
            <a:r>
              <a:rPr lang="es-ES" dirty="0">
                <a:sym typeface="Wingdings" panose="05000000000000000000" pitchFamily="2" charset="2"/>
              </a:rPr>
              <a:t>. (Aula de grupo con tutores)</a:t>
            </a:r>
          </a:p>
          <a:p>
            <a:pPr marL="1157605" lvl="2" indent="-304165">
              <a:buFont typeface="Courier New" panose="020B0604020202020204" pitchFamily="34" charset="0"/>
              <a:buChar char="o"/>
            </a:pPr>
            <a:r>
              <a:rPr lang="es-ES" sz="2000" b="1" dirty="0">
                <a:sym typeface="Wingdings" panose="05000000000000000000" pitchFamily="2" charset="2"/>
              </a:rPr>
              <a:t>Diurno</a:t>
            </a:r>
            <a:r>
              <a:rPr lang="es-ES" sz="2000" dirty="0">
                <a:sym typeface="Wingdings" panose="05000000000000000000" pitchFamily="2" charset="2"/>
              </a:rPr>
              <a:t>: </a:t>
            </a:r>
            <a:r>
              <a:rPr lang="es-ES" sz="2000" b="1" dirty="0">
                <a:sym typeface="Wingdings" panose="05000000000000000000" pitchFamily="2" charset="2"/>
              </a:rPr>
              <a:t>10:00h</a:t>
            </a:r>
            <a:r>
              <a:rPr lang="es-ES" sz="2000" dirty="0">
                <a:sym typeface="Wingdings" panose="05000000000000000000" pitchFamily="2" charset="2"/>
              </a:rPr>
              <a:t>: 2º Grado Básico y Medio y Superior.</a:t>
            </a:r>
            <a:endParaRPr lang="es-ES" sz="2000" dirty="0"/>
          </a:p>
          <a:p>
            <a:pPr marL="852805" lvl="2" indent="0">
              <a:buNone/>
            </a:pPr>
            <a:r>
              <a:rPr lang="es-ES" sz="2000" b="1" dirty="0">
                <a:sym typeface="Wingdings" panose="05000000000000000000" pitchFamily="2" charset="2"/>
              </a:rPr>
              <a:t>                </a:t>
            </a:r>
            <a:endParaRPr lang="es-ES" sz="2000" dirty="0">
              <a:sym typeface="Wingdings" panose="05000000000000000000" pitchFamily="2" charset="2"/>
            </a:endParaRPr>
          </a:p>
          <a:p>
            <a:pPr marL="1195705" lvl="2" indent="-342900">
              <a:buFont typeface="Courier New" panose="02070309020205020404" pitchFamily="49" charset="0"/>
              <a:buChar char="o"/>
            </a:pPr>
            <a:r>
              <a:rPr lang="es-ES" sz="2000" b="1" dirty="0">
                <a:sym typeface="Wingdings" panose="05000000000000000000" pitchFamily="2" charset="2"/>
              </a:rPr>
              <a:t>Vespertino</a:t>
            </a:r>
            <a:r>
              <a:rPr lang="es-ES" sz="2000" dirty="0">
                <a:sym typeface="Wingdings" panose="05000000000000000000" pitchFamily="2" charset="2"/>
              </a:rPr>
              <a:t>: </a:t>
            </a:r>
            <a:r>
              <a:rPr lang="es-ES" sz="2000" b="1" dirty="0">
                <a:sym typeface="Wingdings" panose="05000000000000000000" pitchFamily="2" charset="2"/>
              </a:rPr>
              <a:t>17:00h</a:t>
            </a:r>
            <a:r>
              <a:rPr lang="es-ES" sz="2000" dirty="0">
                <a:sym typeface="Wingdings" panose="05000000000000000000" pitchFamily="2" charset="2"/>
              </a:rPr>
              <a:t>: 2º Grado Medio y Superior.</a:t>
            </a:r>
            <a:endParaRPr lang="es-ES" sz="2000" dirty="0"/>
          </a:p>
          <a:p>
            <a:pPr marL="852805" lvl="2" indent="0">
              <a:buNone/>
            </a:pPr>
            <a:r>
              <a:rPr lang="es-ES" sz="2000" dirty="0">
                <a:sym typeface="Wingdings" panose="05000000000000000000" pitchFamily="2" charset="2"/>
              </a:rPr>
              <a:t>                          </a:t>
            </a:r>
          </a:p>
        </p:txBody>
      </p:sp>
    </p:spTree>
    <p:extLst>
      <p:ext uri="{BB962C8B-B14F-4D97-AF65-F5344CB8AC3E}">
        <p14:creationId xmlns:p14="http://schemas.microsoft.com/office/powerpoint/2010/main" val="82273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5860" y="332656"/>
            <a:ext cx="10801200" cy="1080120"/>
          </a:xfrm>
        </p:spPr>
        <p:txBody>
          <a:bodyPr rtlCol="0">
            <a:normAutofit fontScale="90000"/>
          </a:bodyPr>
          <a:lstStyle/>
          <a:p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ES" sz="4400" b="1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1114603" y="1844824"/>
            <a:ext cx="10585176" cy="4470400"/>
          </a:xfrm>
        </p:spPr>
        <p:txBody>
          <a:bodyPr rtlCol="0"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ym typeface="Wingdings" panose="05000000000000000000" pitchFamily="2" charset="2"/>
              </a:rPr>
              <a:t>Comentar </a:t>
            </a:r>
            <a:r>
              <a:rPr lang="es-ES" b="1" dirty="0">
                <a:sym typeface="Wingdings" panose="05000000000000000000" pitchFamily="2" charset="2"/>
              </a:rPr>
              <a:t>Normas de Conducta (Plan de convivencia). </a:t>
            </a:r>
            <a:endParaRPr lang="es-ES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>
                <a:sym typeface="Wingdings" panose="05000000000000000000" pitchFamily="2" charset="2"/>
              </a:rPr>
              <a:t>Informar sobre </a:t>
            </a:r>
            <a:r>
              <a:rPr lang="es-ES" b="1" dirty="0">
                <a:sym typeface="Wingdings" panose="05000000000000000000" pitchFamily="2" charset="2"/>
              </a:rPr>
              <a:t>calendario de evaluaciones, convalidaciones y renuncias.</a:t>
            </a:r>
            <a:endParaRPr lang="es-ES" dirty="0">
              <a:sym typeface="Wingdings" panose="05000000000000000000" pitchFamily="2" charset="2"/>
            </a:endParaRPr>
          </a:p>
          <a:p>
            <a:pPr marL="853290" lvl="2" indent="0">
              <a:buNone/>
            </a:pPr>
            <a:r>
              <a:rPr lang="es-ES" sz="1800" b="1" dirty="0">
                <a:solidFill>
                  <a:schemeClr val="bg1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web&gt;Enseñanzas&gt;&gt;Ciclos Formativos&gt;Calendario-enseñanzas-de-FP-2024-25</a:t>
            </a:r>
          </a:p>
          <a:p>
            <a:pPr marL="853290" lvl="2" indent="0">
              <a:buNone/>
            </a:pPr>
            <a:r>
              <a:rPr lang="es-ES" sz="1800" b="1" dirty="0">
                <a:solidFill>
                  <a:schemeClr val="bg1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También disponible en Aula Virtual-&gt;Claustro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/>
              <a:t>Motivos de </a:t>
            </a:r>
            <a:r>
              <a:rPr lang="es-ES" b="1" dirty="0"/>
              <a:t>renuncia</a:t>
            </a:r>
            <a:r>
              <a:rPr lang="es-ES" dirty="0"/>
              <a:t>: trabajo, enfermedad grave o causa especial (a criterio del director).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/>
              <a:t>Explicar </a:t>
            </a:r>
            <a:r>
              <a:rPr lang="es-ES" b="1" dirty="0"/>
              <a:t>número de convocatorias </a:t>
            </a:r>
            <a:r>
              <a:rPr lang="es-ES" dirty="0"/>
              <a:t>por módulo (4).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/>
              <a:t>Comunicar alumnos con pendientes de 1º que deben contactar con profesor de la materia pendiente.</a:t>
            </a:r>
          </a:p>
          <a:p>
            <a:pPr marL="426645" lvl="1" indent="0">
              <a:buNone/>
            </a:pPr>
            <a:endParaRPr lang="es-ES" b="1" dirty="0">
              <a:solidFill>
                <a:schemeClr val="bg1"/>
              </a:solidFill>
              <a:latin typeface="Cavolini" panose="03000502040302020204" pitchFamily="66" charset="0"/>
              <a:cs typeface="Cavolini" panose="03000502040302020204" pitchFamily="66" charset="0"/>
            </a:endParaRPr>
          </a:p>
          <a:p>
            <a:pPr marL="853290" lvl="2" indent="0">
              <a:buNone/>
            </a:pPr>
            <a:endParaRPr lang="es-ES" b="1" dirty="0">
              <a:solidFill>
                <a:schemeClr val="bg1"/>
              </a:solidFill>
              <a:latin typeface="Cavolini" panose="03000502040302020204" pitchFamily="66" charset="0"/>
              <a:cs typeface="Cavolini" panose="03000502040302020204" pitchFamily="66" charset="0"/>
              <a:sym typeface="Wingdings" panose="05000000000000000000" pitchFamily="2" charset="2"/>
            </a:endParaRPr>
          </a:p>
          <a:p>
            <a:pPr marL="853290" lvl="2" indent="0">
              <a:buNone/>
            </a:pPr>
            <a:endParaRPr lang="es-ES" dirty="0">
              <a:sym typeface="Wingdings" panose="05000000000000000000" pitchFamily="2" charset="2"/>
            </a:endParaRPr>
          </a:p>
          <a:p>
            <a:pPr marL="853290" lvl="2" indent="0">
              <a:buNone/>
            </a:pPr>
            <a:endParaRPr lang="es-ES" dirty="0">
              <a:sym typeface="Wingdings" panose="05000000000000000000" pitchFamily="2" charset="2"/>
            </a:endParaRPr>
          </a:p>
          <a:p>
            <a:pPr marL="853290" lvl="2" indent="0">
              <a:buNone/>
            </a:pPr>
            <a:endParaRPr lang="es-ES" dirty="0">
              <a:sym typeface="Wingdings" panose="05000000000000000000" pitchFamily="2" charset="2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BBB641-5020-D705-ACF5-A0F670AF6CA6}"/>
              </a:ext>
            </a:extLst>
          </p:cNvPr>
          <p:cNvSpPr txBox="1"/>
          <p:nvPr/>
        </p:nvSpPr>
        <p:spPr>
          <a:xfrm>
            <a:off x="-1178396" y="332656"/>
            <a:ext cx="896056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6. Presentación de alumnos</a:t>
            </a:r>
          </a:p>
          <a:p>
            <a:pPr algn="ctr"/>
            <a:r>
              <a:rPr lang="es-ES" sz="2400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(10 de septiembre)</a:t>
            </a:r>
          </a:p>
        </p:txBody>
      </p:sp>
    </p:spTree>
    <p:extLst>
      <p:ext uri="{BB962C8B-B14F-4D97-AF65-F5344CB8AC3E}">
        <p14:creationId xmlns:p14="http://schemas.microsoft.com/office/powerpoint/2010/main" val="1340156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5860" y="332656"/>
            <a:ext cx="10801200" cy="1080120"/>
          </a:xfrm>
        </p:spPr>
        <p:txBody>
          <a:bodyPr rtlCol="0">
            <a:normAutofit fontScale="90000"/>
          </a:bodyPr>
          <a:lstStyle/>
          <a:p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ES" sz="4400" b="1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1084613" y="1290590"/>
            <a:ext cx="10449711" cy="4470400"/>
          </a:xfrm>
        </p:spPr>
        <p:txBody>
          <a:bodyPr rtlCol="0">
            <a:normAutofit/>
          </a:bodyPr>
          <a:lstStyle/>
          <a:p>
            <a:pPr lvl="1">
              <a:buFont typeface="Wingdings" panose="05000000000000000000" pitchFamily="2" charset="2"/>
              <a:buChar char="Ø"/>
            </a:pPr>
            <a:endParaRPr lang="es-ES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s-ES" b="1" dirty="0"/>
              <a:t>Obligatoriedad asistencia actividades lectivas.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dirty="0"/>
              <a:t>Procedimiento </a:t>
            </a:r>
            <a:r>
              <a:rPr lang="es-ES" b="1" dirty="0"/>
              <a:t>justificación </a:t>
            </a:r>
            <a:r>
              <a:rPr lang="es-ES" dirty="0"/>
              <a:t>de faltas.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b="1" dirty="0"/>
              <a:t>Cancelación voluntaria matrícula </a:t>
            </a:r>
            <a:r>
              <a:rPr lang="es-ES" dirty="0"/>
              <a:t>(antes de cumplir 1 mes desde inicio de curso, 10 de octubre)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s-ES" b="1" dirty="0"/>
              <a:t>Inasistencia de al menos 7 días completos </a:t>
            </a:r>
            <a:r>
              <a:rPr lang="es-ES" dirty="0"/>
              <a:t>durante los primeros 10 días de curso </a:t>
            </a:r>
            <a:r>
              <a:rPr lang="es-ES" dirty="0">
                <a:sym typeface="Wingdings" panose="05000000000000000000" pitchFamily="2" charset="2"/>
              </a:rPr>
              <a:t> Tutor informará a Jefatura de estudios.</a:t>
            </a:r>
            <a:endParaRPr lang="es-ES" b="1" dirty="0"/>
          </a:p>
          <a:p>
            <a:pPr lvl="1">
              <a:buFont typeface="Wingdings" panose="05000000000000000000" pitchFamily="2" charset="2"/>
              <a:buChar char="Ø"/>
            </a:pPr>
            <a:endParaRPr lang="es-ES" b="1" dirty="0"/>
          </a:p>
          <a:p>
            <a:pPr lvl="2">
              <a:buFont typeface="Wingdings" panose="05000000000000000000" pitchFamily="2" charset="2"/>
              <a:buChar char="Ø"/>
            </a:pPr>
            <a:endParaRPr lang="es-ES" b="1" dirty="0">
              <a:solidFill>
                <a:schemeClr val="bg1"/>
              </a:solidFill>
              <a:latin typeface="Cavolini" panose="03000502040302020204" pitchFamily="66" charset="0"/>
              <a:cs typeface="Cavolini" panose="03000502040302020204" pitchFamily="66" charset="0"/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endParaRPr lang="es-ES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endParaRPr lang="es-ES" dirty="0">
              <a:sym typeface="Wingdings" panose="05000000000000000000" pitchFamily="2" charset="2"/>
            </a:endParaRPr>
          </a:p>
          <a:p>
            <a:pPr lvl="2">
              <a:buFont typeface="Wingdings" panose="05000000000000000000" pitchFamily="2" charset="2"/>
              <a:buChar char="Ø"/>
            </a:pPr>
            <a:endParaRPr lang="es-ES" dirty="0">
              <a:sym typeface="Wingdings" panose="05000000000000000000" pitchFamily="2" charset="2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BBB641-5020-D705-ACF5-A0F670AF6CA6}"/>
              </a:ext>
            </a:extLst>
          </p:cNvPr>
          <p:cNvSpPr txBox="1"/>
          <p:nvPr/>
        </p:nvSpPr>
        <p:spPr>
          <a:xfrm>
            <a:off x="-1178396" y="332656"/>
            <a:ext cx="896056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6. Presentación de alumnos</a:t>
            </a:r>
          </a:p>
          <a:p>
            <a:pPr algn="ctr"/>
            <a:r>
              <a:rPr lang="es-ES" sz="2400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(10 de septiembre)</a:t>
            </a:r>
          </a:p>
        </p:txBody>
      </p:sp>
    </p:spTree>
    <p:extLst>
      <p:ext uri="{BB962C8B-B14F-4D97-AF65-F5344CB8AC3E}">
        <p14:creationId xmlns:p14="http://schemas.microsoft.com/office/powerpoint/2010/main" val="47491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5860" y="332656"/>
            <a:ext cx="10801200" cy="1080120"/>
          </a:xfrm>
        </p:spPr>
        <p:txBody>
          <a:bodyPr rtlCol="0">
            <a:normAutofit fontScale="90000"/>
          </a:bodyPr>
          <a:lstStyle/>
          <a:p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ES" sz="4400" b="1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1125860" y="1163654"/>
            <a:ext cx="10449711" cy="5361690"/>
          </a:xfrm>
        </p:spPr>
        <p:txBody>
          <a:bodyPr vert="horz" lIns="121899" tIns="60949" rIns="121899" bIns="60949" rtlCol="0" anchor="t">
            <a:normAutofit lnSpcReduction="10000"/>
          </a:bodyPr>
          <a:lstStyle/>
          <a:p>
            <a:pPr marL="730885" lvl="1" indent="-304165">
              <a:buFont typeface="Wingdings" panose="05000000000000000000" pitchFamily="2" charset="2"/>
              <a:buChar char="Ø"/>
            </a:pPr>
            <a:endParaRPr lang="es-ES" dirty="0"/>
          </a:p>
          <a:p>
            <a:pPr marL="730885" lvl="1" indent="-304165">
              <a:buFont typeface="Wingdings" panose="05000000000000000000" pitchFamily="2" charset="2"/>
              <a:buChar char="Ø"/>
            </a:pPr>
            <a:r>
              <a:rPr lang="es-ES" b="1" dirty="0"/>
              <a:t>Pérdida de matrícula </a:t>
            </a:r>
            <a:r>
              <a:rPr lang="es-ES" dirty="0"/>
              <a:t>tramitada por </a:t>
            </a:r>
            <a:r>
              <a:rPr lang="es-ES" u="sng" dirty="0"/>
              <a:t>tutor </a:t>
            </a:r>
            <a:r>
              <a:rPr lang="es-ES" dirty="0"/>
              <a:t>(faltas </a:t>
            </a:r>
            <a:r>
              <a:rPr lang="es-ES" b="1" dirty="0"/>
              <a:t>injustificadas</a:t>
            </a:r>
            <a:r>
              <a:rPr lang="es-ES" dirty="0"/>
              <a:t>)</a:t>
            </a:r>
          </a:p>
          <a:p>
            <a:pPr marL="1157605" lvl="2" indent="-304165">
              <a:buFont typeface="Courier New" panose="020B0604020202020204" pitchFamily="34" charset="0"/>
              <a:buChar char="o"/>
            </a:pPr>
            <a:r>
              <a:rPr lang="es-ES" u="sng" dirty="0"/>
              <a:t>Aviso</a:t>
            </a:r>
            <a:r>
              <a:rPr lang="es-ES" dirty="0"/>
              <a:t> (a través de Raíces/</a:t>
            </a:r>
            <a:r>
              <a:rPr lang="es-ES" dirty="0" err="1"/>
              <a:t>Educamadrid</a:t>
            </a:r>
            <a:r>
              <a:rPr lang="es-ES" dirty="0"/>
              <a:t>) a los </a:t>
            </a:r>
            <a:r>
              <a:rPr lang="es-ES" b="1" dirty="0"/>
              <a:t>10 días seguidos </a:t>
            </a:r>
            <a:r>
              <a:rPr lang="es-ES" dirty="0"/>
              <a:t>o </a:t>
            </a:r>
            <a:r>
              <a:rPr lang="es-ES" b="1" dirty="0"/>
              <a:t>10% </a:t>
            </a:r>
            <a:r>
              <a:rPr lang="es-ES" dirty="0"/>
              <a:t>de las horas de formación de inasistencia.</a:t>
            </a:r>
          </a:p>
          <a:p>
            <a:pPr marL="1157605" lvl="2" indent="-304165">
              <a:buFont typeface="Courier New" panose="020B0604020202020204" pitchFamily="34" charset="0"/>
              <a:buChar char="o"/>
            </a:pPr>
            <a:r>
              <a:rPr lang="es-ES" u="sng" dirty="0"/>
              <a:t>Pérdida</a:t>
            </a:r>
            <a:r>
              <a:rPr lang="es-ES" dirty="0"/>
              <a:t> matrícula al superar los </a:t>
            </a:r>
            <a:r>
              <a:rPr lang="es-ES" b="1" dirty="0"/>
              <a:t>15 días seguidos </a:t>
            </a:r>
            <a:r>
              <a:rPr lang="es-ES" dirty="0"/>
              <a:t>o </a:t>
            </a:r>
            <a:r>
              <a:rPr lang="es-ES" b="1" dirty="0"/>
              <a:t>15%</a:t>
            </a:r>
            <a:r>
              <a:rPr lang="es-ES" dirty="0"/>
              <a:t> de las horas de formación.</a:t>
            </a:r>
          </a:p>
          <a:p>
            <a:pPr marL="1157605" lvl="2" indent="-304165">
              <a:buClr>
                <a:srgbClr val="385723"/>
              </a:buClr>
              <a:buFont typeface="Courier New" panose="020B0604020202020204" pitchFamily="34" charset="0"/>
              <a:buChar char="o"/>
            </a:pPr>
            <a:r>
              <a:rPr lang="es-ES" dirty="0"/>
              <a:t>El alumno debe justificar las ausencias el día de incorporación a clase</a:t>
            </a:r>
          </a:p>
          <a:p>
            <a:pPr marL="730885" lvl="1" indent="-304165">
              <a:buFont typeface="Wingdings" panose="05000000000000000000" pitchFamily="2" charset="2"/>
              <a:buChar char="Ø"/>
            </a:pPr>
            <a:r>
              <a:rPr lang="es-ES" b="1" dirty="0">
                <a:sym typeface="Wingdings" panose="05000000000000000000" pitchFamily="2" charset="2"/>
              </a:rPr>
              <a:t>Pérdida de evaluación continua </a:t>
            </a:r>
            <a:r>
              <a:rPr lang="es-ES" dirty="0">
                <a:sym typeface="Wingdings" panose="05000000000000000000" pitchFamily="2" charset="2"/>
              </a:rPr>
              <a:t>tramitada por </a:t>
            </a:r>
            <a:r>
              <a:rPr lang="es-ES" u="sng" dirty="0">
                <a:sym typeface="Wingdings" panose="05000000000000000000" pitchFamily="2" charset="2"/>
              </a:rPr>
              <a:t>profesor</a:t>
            </a:r>
            <a:r>
              <a:rPr lang="es-ES" dirty="0">
                <a:sym typeface="Wingdings" panose="05000000000000000000" pitchFamily="2" charset="2"/>
              </a:rPr>
              <a:t> (</a:t>
            </a:r>
            <a:r>
              <a:rPr lang="es-ES" b="1" dirty="0">
                <a:sym typeface="Wingdings" panose="05000000000000000000" pitchFamily="2" charset="2"/>
              </a:rPr>
              <a:t>todas las faltas</a:t>
            </a:r>
            <a:r>
              <a:rPr lang="es-ES" dirty="0">
                <a:sym typeface="Wingdings" panose="05000000000000000000" pitchFamily="2" charset="2"/>
              </a:rPr>
              <a:t>)</a:t>
            </a:r>
            <a:endParaRPr lang="es-ES" dirty="0"/>
          </a:p>
          <a:p>
            <a:pPr marL="1157605" lvl="2" indent="-304165">
              <a:buFont typeface="Wingdings" panose="05000000000000000000" pitchFamily="2" charset="2"/>
              <a:buChar char="v"/>
            </a:pPr>
            <a:r>
              <a:rPr lang="es-ES" b="1" dirty="0">
                <a:sym typeface="Wingdings" panose="05000000000000000000" pitchFamily="2" charset="2"/>
              </a:rPr>
              <a:t>GM y FPB: </a:t>
            </a:r>
            <a:endParaRPr lang="es-ES" b="1" dirty="0"/>
          </a:p>
          <a:p>
            <a:pPr marL="1584325" lvl="3" indent="-304165">
              <a:buFont typeface="Courier New" panose="020B0604020202020204" pitchFamily="34" charset="0"/>
              <a:buChar char="o"/>
            </a:pPr>
            <a:r>
              <a:rPr lang="es-ES" dirty="0">
                <a:sym typeface="Wingdings" panose="05000000000000000000" pitchFamily="2" charset="2"/>
              </a:rPr>
              <a:t> </a:t>
            </a:r>
            <a:r>
              <a:rPr lang="es-ES" u="sng" dirty="0">
                <a:sym typeface="Wingdings" panose="05000000000000000000" pitchFamily="2" charset="2"/>
              </a:rPr>
              <a:t>Aviso</a:t>
            </a:r>
            <a:r>
              <a:rPr lang="es-ES" dirty="0">
                <a:sym typeface="Wingdings" panose="05000000000000000000" pitchFamily="2" charset="2"/>
              </a:rPr>
              <a:t> a los </a:t>
            </a:r>
            <a:r>
              <a:rPr lang="es-ES" b="1" dirty="0">
                <a:sym typeface="Wingdings" panose="05000000000000000000" pitchFamily="2" charset="2"/>
              </a:rPr>
              <a:t>10 días seguidos </a:t>
            </a:r>
            <a:r>
              <a:rPr lang="es-ES" dirty="0">
                <a:sym typeface="Wingdings" panose="05000000000000000000" pitchFamily="2" charset="2"/>
              </a:rPr>
              <a:t>o </a:t>
            </a:r>
            <a:r>
              <a:rPr lang="es-ES" b="1" dirty="0">
                <a:sym typeface="Wingdings" panose="05000000000000000000" pitchFamily="2" charset="2"/>
              </a:rPr>
              <a:t>10%</a:t>
            </a:r>
            <a:r>
              <a:rPr lang="es-ES" dirty="0">
                <a:sym typeface="Wingdings" panose="05000000000000000000" pitchFamily="2" charset="2"/>
              </a:rPr>
              <a:t> horas del módulo.</a:t>
            </a:r>
            <a:endParaRPr lang="es-ES" dirty="0"/>
          </a:p>
          <a:p>
            <a:pPr marL="1584325" lvl="3" indent="-304165">
              <a:buFont typeface="Courier New" panose="020B0604020202020204" pitchFamily="34" charset="0"/>
              <a:buChar char="o"/>
            </a:pPr>
            <a:r>
              <a:rPr lang="es-ES" dirty="0">
                <a:sym typeface="Wingdings" panose="05000000000000000000" pitchFamily="2" charset="2"/>
              </a:rPr>
              <a:t> </a:t>
            </a:r>
            <a:r>
              <a:rPr lang="es-ES" u="sng" dirty="0">
                <a:sym typeface="Wingdings" panose="05000000000000000000" pitchFamily="2" charset="2"/>
              </a:rPr>
              <a:t>Pérdida</a:t>
            </a:r>
            <a:r>
              <a:rPr lang="es-ES" dirty="0">
                <a:sym typeface="Wingdings" panose="05000000000000000000" pitchFamily="2" charset="2"/>
              </a:rPr>
              <a:t> a los </a:t>
            </a:r>
            <a:r>
              <a:rPr lang="es-ES" b="1" dirty="0">
                <a:sym typeface="Wingdings" panose="05000000000000000000" pitchFamily="2" charset="2"/>
              </a:rPr>
              <a:t>15 días seguidos </a:t>
            </a:r>
            <a:r>
              <a:rPr lang="es-ES" dirty="0">
                <a:sym typeface="Wingdings" panose="05000000000000000000" pitchFamily="2" charset="2"/>
              </a:rPr>
              <a:t>o </a:t>
            </a:r>
            <a:r>
              <a:rPr lang="es-ES" b="1" dirty="0">
                <a:sym typeface="Wingdings" panose="05000000000000000000" pitchFamily="2" charset="2"/>
              </a:rPr>
              <a:t>15% </a:t>
            </a:r>
            <a:r>
              <a:rPr lang="es-ES" dirty="0">
                <a:sym typeface="Wingdings" panose="05000000000000000000" pitchFamily="2" charset="2"/>
              </a:rPr>
              <a:t>horas del módulo.</a:t>
            </a:r>
            <a:endParaRPr lang="es-ES" dirty="0"/>
          </a:p>
          <a:p>
            <a:pPr marL="1157605" lvl="2" indent="-304165">
              <a:buFont typeface="Wingdings" panose="05000000000000000000" pitchFamily="2" charset="2"/>
              <a:buChar char="v"/>
            </a:pPr>
            <a:r>
              <a:rPr lang="es-ES" b="1" dirty="0">
                <a:sym typeface="Wingdings" panose="05000000000000000000" pitchFamily="2" charset="2"/>
              </a:rPr>
              <a:t> GS: </a:t>
            </a:r>
            <a:endParaRPr lang="es-ES" b="1" dirty="0"/>
          </a:p>
          <a:p>
            <a:pPr marL="1584325" lvl="3" indent="-304165">
              <a:buFont typeface="Courier New" panose="020B0604020202020204" pitchFamily="34" charset="0"/>
              <a:buChar char="o"/>
            </a:pPr>
            <a:r>
              <a:rPr lang="es-ES" u="sng" dirty="0">
                <a:sym typeface="Wingdings" panose="05000000000000000000" pitchFamily="2" charset="2"/>
              </a:rPr>
              <a:t>Aviso</a:t>
            </a:r>
            <a:r>
              <a:rPr lang="es-ES" dirty="0">
                <a:sym typeface="Wingdings" panose="05000000000000000000" pitchFamily="2" charset="2"/>
              </a:rPr>
              <a:t> a los </a:t>
            </a:r>
            <a:r>
              <a:rPr lang="es-ES" b="1" dirty="0">
                <a:sym typeface="Wingdings" panose="05000000000000000000" pitchFamily="2" charset="2"/>
              </a:rPr>
              <a:t>15 días seguidos </a:t>
            </a:r>
            <a:r>
              <a:rPr lang="es-ES" dirty="0">
                <a:sym typeface="Wingdings" panose="05000000000000000000" pitchFamily="2" charset="2"/>
              </a:rPr>
              <a:t>o </a:t>
            </a:r>
            <a:r>
              <a:rPr lang="es-ES" b="1" dirty="0">
                <a:sym typeface="Wingdings" panose="05000000000000000000" pitchFamily="2" charset="2"/>
              </a:rPr>
              <a:t>15%</a:t>
            </a:r>
            <a:r>
              <a:rPr lang="es-ES" dirty="0">
                <a:sym typeface="Wingdings" panose="05000000000000000000" pitchFamily="2" charset="2"/>
              </a:rPr>
              <a:t> horas del módulo.</a:t>
            </a:r>
            <a:endParaRPr lang="es-ES" dirty="0"/>
          </a:p>
          <a:p>
            <a:pPr marL="1584325" lvl="3" indent="-304165">
              <a:buFont typeface="Courier New" panose="020B0604020202020204" pitchFamily="34" charset="0"/>
              <a:buChar char="o"/>
            </a:pPr>
            <a:r>
              <a:rPr lang="es-ES" u="sng" dirty="0">
                <a:sym typeface="Wingdings" panose="05000000000000000000" pitchFamily="2" charset="2"/>
              </a:rPr>
              <a:t>Pérdida</a:t>
            </a:r>
            <a:r>
              <a:rPr lang="es-ES" dirty="0">
                <a:sym typeface="Wingdings" panose="05000000000000000000" pitchFamily="2" charset="2"/>
              </a:rPr>
              <a:t> a los </a:t>
            </a:r>
            <a:r>
              <a:rPr lang="es-ES" b="1" dirty="0">
                <a:sym typeface="Wingdings" panose="05000000000000000000" pitchFamily="2" charset="2"/>
              </a:rPr>
              <a:t>20 días seguidos</a:t>
            </a:r>
            <a:r>
              <a:rPr lang="es-ES" dirty="0">
                <a:sym typeface="Wingdings" panose="05000000000000000000" pitchFamily="2" charset="2"/>
              </a:rPr>
              <a:t> o </a:t>
            </a:r>
            <a:r>
              <a:rPr lang="es-ES" b="1" dirty="0">
                <a:sym typeface="Wingdings" panose="05000000000000000000" pitchFamily="2" charset="2"/>
              </a:rPr>
              <a:t>20% </a:t>
            </a:r>
            <a:r>
              <a:rPr lang="es-ES" dirty="0">
                <a:sym typeface="Wingdings" panose="05000000000000000000" pitchFamily="2" charset="2"/>
              </a:rPr>
              <a:t>de las horas del módulo.</a:t>
            </a:r>
            <a:endParaRPr lang="es-ES" dirty="0"/>
          </a:p>
          <a:p>
            <a:pPr marL="1279525" lvl="3" indent="0">
              <a:buNone/>
            </a:pPr>
            <a:endParaRPr lang="es-ES" dirty="0"/>
          </a:p>
          <a:p>
            <a:pPr marL="1157605" lvl="2" indent="-304165">
              <a:buFont typeface="Wingdings" panose="05000000000000000000" pitchFamily="2" charset="2"/>
              <a:buChar char="Ø"/>
            </a:pPr>
            <a:endParaRPr lang="es-ES" dirty="0"/>
          </a:p>
          <a:p>
            <a:pPr marL="1157605" lvl="2" indent="-304165">
              <a:buFont typeface="Wingdings" panose="05000000000000000000" pitchFamily="2" charset="2"/>
              <a:buChar char="Ø"/>
            </a:pPr>
            <a:endParaRPr lang="es-ES" dirty="0"/>
          </a:p>
          <a:p>
            <a:pPr marL="1157605" lvl="2" indent="-304165">
              <a:buFont typeface="Wingdings" panose="05000000000000000000" pitchFamily="2" charset="2"/>
              <a:buChar char="Ø"/>
            </a:pP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BBB641-5020-D705-ACF5-A0F670AF6CA6}"/>
              </a:ext>
            </a:extLst>
          </p:cNvPr>
          <p:cNvSpPr txBox="1"/>
          <p:nvPr/>
        </p:nvSpPr>
        <p:spPr>
          <a:xfrm>
            <a:off x="-1178396" y="332656"/>
            <a:ext cx="896056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6. Presentación de alumnos</a:t>
            </a:r>
          </a:p>
          <a:p>
            <a:pPr algn="ctr"/>
            <a:r>
              <a:rPr lang="es-ES" sz="2400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(10 de septiembre)</a:t>
            </a:r>
          </a:p>
        </p:txBody>
      </p:sp>
    </p:spTree>
    <p:extLst>
      <p:ext uri="{BB962C8B-B14F-4D97-AF65-F5344CB8AC3E}">
        <p14:creationId xmlns:p14="http://schemas.microsoft.com/office/powerpoint/2010/main" val="1768580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5860" y="332656"/>
            <a:ext cx="10801200" cy="1080120"/>
          </a:xfrm>
        </p:spPr>
        <p:txBody>
          <a:bodyPr rtlCol="0">
            <a:normAutofit fontScale="90000"/>
          </a:bodyPr>
          <a:lstStyle/>
          <a:p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ES" sz="4400" b="1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1125860" y="1163654"/>
            <a:ext cx="10449711" cy="5361690"/>
          </a:xfrm>
        </p:spPr>
        <p:txBody>
          <a:bodyPr vert="horz" lIns="121899" tIns="60949" rIns="121899" bIns="60949" rtlCol="0" anchor="t">
            <a:normAutofit/>
          </a:bodyPr>
          <a:lstStyle/>
          <a:p>
            <a:pPr marL="730885" lvl="1" indent="-304165">
              <a:buFont typeface="Wingdings" panose="05000000000000000000" pitchFamily="2" charset="2"/>
              <a:buChar char="Ø"/>
            </a:pPr>
            <a:endParaRPr lang="es-ES" dirty="0"/>
          </a:p>
          <a:p>
            <a:pPr marL="730885" lvl="1" indent="-304165">
              <a:buFont typeface="Wingdings" panose="05000000000000000000" pitchFamily="2" charset="2"/>
              <a:buChar char="Ø"/>
            </a:pPr>
            <a:r>
              <a:rPr lang="es-ES" b="1" dirty="0"/>
              <a:t>Formularios de pérdida de matrícula y</a:t>
            </a:r>
            <a:r>
              <a:rPr lang="es-ES" b="1" dirty="0">
                <a:sym typeface="Wingdings" panose="05000000000000000000" pitchFamily="2" charset="2"/>
              </a:rPr>
              <a:t> de evaluación continua:</a:t>
            </a:r>
          </a:p>
          <a:p>
            <a:pPr marL="853365" lvl="2" indent="0">
              <a:buNone/>
            </a:pPr>
            <a:r>
              <a:rPr lang="es-ES" b="1" dirty="0">
                <a:sym typeface="Wingdings" panose="05000000000000000000" pitchFamily="2" charset="2"/>
              </a:rPr>
              <a:t>En Aula Virtual &gt; Claustro</a:t>
            </a:r>
          </a:p>
          <a:p>
            <a:pPr marL="853365" lvl="2" indent="0">
              <a:buNone/>
            </a:pPr>
            <a:endParaRPr lang="es-ES" b="1" dirty="0">
              <a:sym typeface="Wingdings" panose="05000000000000000000" pitchFamily="2" charset="2"/>
            </a:endParaRPr>
          </a:p>
          <a:p>
            <a:pPr marL="853365" lvl="2" indent="0">
              <a:buNone/>
            </a:pPr>
            <a:endParaRPr lang="es-ES" b="1" dirty="0">
              <a:sym typeface="Wingdings" panose="05000000000000000000" pitchFamily="2" charset="2"/>
            </a:endParaRPr>
          </a:p>
          <a:p>
            <a:pPr marL="730885" lvl="1" indent="-304165">
              <a:buFont typeface="Wingdings" panose="05000000000000000000" pitchFamily="2" charset="2"/>
              <a:buChar char="Ø"/>
            </a:pPr>
            <a:endParaRPr lang="es-ES" b="1" dirty="0">
              <a:sym typeface="Wingdings" panose="05000000000000000000" pitchFamily="2" charset="2"/>
            </a:endParaRPr>
          </a:p>
          <a:p>
            <a:pPr marL="730885" lvl="1" indent="-304165">
              <a:buFont typeface="Wingdings" panose="05000000000000000000" pitchFamily="2" charset="2"/>
              <a:buChar char="Ø"/>
            </a:pPr>
            <a:endParaRPr lang="es-ES" b="1" dirty="0">
              <a:sym typeface="Wingdings" panose="05000000000000000000" pitchFamily="2" charset="2"/>
            </a:endParaRPr>
          </a:p>
          <a:p>
            <a:pPr marL="730885" lvl="1" indent="-304165">
              <a:buFont typeface="Wingdings" panose="05000000000000000000" pitchFamily="2" charset="2"/>
              <a:buChar char="Ø"/>
            </a:pPr>
            <a:endParaRPr lang="es-ES" dirty="0"/>
          </a:p>
          <a:p>
            <a:pPr marL="1157605" lvl="2" indent="-304165">
              <a:buFont typeface="Wingdings" panose="05000000000000000000" pitchFamily="2" charset="2"/>
              <a:buChar char="Ø"/>
            </a:pPr>
            <a:endParaRPr lang="es-ES" dirty="0"/>
          </a:p>
          <a:p>
            <a:pPr marL="1157605" lvl="2" indent="-304165">
              <a:buFont typeface="Wingdings" panose="05000000000000000000" pitchFamily="2" charset="2"/>
              <a:buChar char="Ø"/>
            </a:pP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BBB641-5020-D705-ACF5-A0F670AF6CA6}"/>
              </a:ext>
            </a:extLst>
          </p:cNvPr>
          <p:cNvSpPr txBox="1"/>
          <p:nvPr/>
        </p:nvSpPr>
        <p:spPr>
          <a:xfrm>
            <a:off x="-1178396" y="332656"/>
            <a:ext cx="896056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6. Presentación de alumnos</a:t>
            </a:r>
          </a:p>
          <a:p>
            <a:pPr algn="ctr"/>
            <a:r>
              <a:rPr lang="es-ES" sz="2400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(10 de septiembre)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E8B5553-5EC8-4E60-8A14-310318A89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012" y="2708920"/>
            <a:ext cx="8191500" cy="3467100"/>
          </a:xfrm>
          <a:prstGeom prst="rect">
            <a:avLst/>
          </a:prstGeom>
        </p:spPr>
      </p:pic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D013BDBE-2465-4972-BF04-DA88FEE1666D}"/>
              </a:ext>
            </a:extLst>
          </p:cNvPr>
          <p:cNvSpPr/>
          <p:nvPr/>
        </p:nvSpPr>
        <p:spPr>
          <a:xfrm>
            <a:off x="1483423" y="4905164"/>
            <a:ext cx="1224136" cy="216024"/>
          </a:xfrm>
          <a:prstGeom prst="rightArrow">
            <a:avLst/>
          </a:prstGeom>
          <a:solidFill>
            <a:srgbClr val="FF0000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437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5860" y="332656"/>
            <a:ext cx="10801200" cy="1080120"/>
          </a:xfrm>
        </p:spPr>
        <p:txBody>
          <a:bodyPr rtlCol="0">
            <a:normAutofit fontScale="90000"/>
          </a:bodyPr>
          <a:lstStyle/>
          <a:p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ES" sz="4400" b="1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773256" y="980728"/>
            <a:ext cx="11153803" cy="5777189"/>
          </a:xfrm>
        </p:spPr>
        <p:txBody>
          <a:bodyPr vert="horz" lIns="121899" tIns="60949" rIns="121899" bIns="60949" rtlCol="0" anchor="t">
            <a:normAutofit/>
          </a:bodyPr>
          <a:lstStyle/>
          <a:p>
            <a:pPr marL="730885" lvl="1" indent="-304165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s-ES" dirty="0"/>
          </a:p>
          <a:p>
            <a:pPr marL="426720" lvl="1" indent="0">
              <a:lnSpc>
                <a:spcPct val="120000"/>
              </a:lnSpc>
              <a:buNone/>
            </a:pPr>
            <a:r>
              <a:rPr lang="es-ES" sz="2400" b="1" dirty="0"/>
              <a:t>1. Aula </a:t>
            </a:r>
            <a:r>
              <a:rPr lang="es-ES" sz="2400" b="1" dirty="0">
                <a:solidFill>
                  <a:schemeClr val="tx2">
                    <a:lumMod val="50000"/>
                  </a:schemeClr>
                </a:solidFill>
              </a:rPr>
              <a:t>virtual</a:t>
            </a:r>
            <a:r>
              <a:rPr lang="es-ES" sz="2400" b="1" dirty="0"/>
              <a:t> de Tutores de FP:</a:t>
            </a:r>
          </a:p>
          <a:p>
            <a:pPr marL="804863" lvl="1" indent="-360363">
              <a:lnSpc>
                <a:spcPct val="120000"/>
              </a:lnSpc>
              <a:spcBef>
                <a:spcPts val="0"/>
              </a:spcBef>
              <a:buNone/>
              <a:tabLst>
                <a:tab pos="804863" algn="l"/>
              </a:tabLst>
            </a:pPr>
            <a:r>
              <a:rPr lang="es-ES" dirty="0"/>
              <a:t>	A.V. IES </a:t>
            </a:r>
            <a:r>
              <a:rPr lang="es-ES" sz="1800" dirty="0">
                <a:solidFill>
                  <a:schemeClr val="tx2">
                    <a:lumMod val="50000"/>
                  </a:schemeClr>
                </a:solidFill>
              </a:rPr>
              <a:t>Juan</a:t>
            </a:r>
            <a:r>
              <a:rPr lang="es-ES" dirty="0"/>
              <a:t> de la Cierva / TUTORES / TUTORES FP</a:t>
            </a:r>
          </a:p>
          <a:p>
            <a:pPr marL="2845115" lvl="6" indent="-304165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s-ES" sz="3000" b="1" dirty="0">
              <a:sym typeface="Wingdings" panose="05000000000000000000" pitchFamily="2" charset="2"/>
            </a:endParaRPr>
          </a:p>
          <a:p>
            <a:pPr marL="2845115" lvl="6" indent="-304165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s-ES" sz="3000" b="1" dirty="0">
              <a:sym typeface="Wingdings" panose="05000000000000000000" pitchFamily="2" charset="2"/>
            </a:endParaRPr>
          </a:p>
          <a:p>
            <a:pPr marL="2845115" lvl="6" indent="-304165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s-ES" sz="3000" b="1" dirty="0">
              <a:sym typeface="Wingdings" panose="05000000000000000000" pitchFamily="2" charset="2"/>
            </a:endParaRPr>
          </a:p>
          <a:p>
            <a:pPr marL="2778125" lvl="6" indent="0">
              <a:lnSpc>
                <a:spcPct val="100000"/>
              </a:lnSpc>
              <a:buNone/>
            </a:pPr>
            <a:r>
              <a:rPr lang="es-ES" sz="2400" b="1" dirty="0">
                <a:sym typeface="Wingdings" panose="05000000000000000000" pitchFamily="2" charset="2"/>
              </a:rPr>
              <a:t>2. Aula virtual específica de FFE</a:t>
            </a:r>
          </a:p>
          <a:p>
            <a:pPr marL="3044825" lvl="6" indent="-244475">
              <a:lnSpc>
                <a:spcPct val="100000"/>
              </a:lnSpc>
              <a:buNone/>
              <a:tabLst>
                <a:tab pos="3044825" algn="l"/>
              </a:tabLst>
            </a:pPr>
            <a:r>
              <a:rPr lang="es-ES" sz="2400" b="1" dirty="0">
                <a:sym typeface="Wingdings" panose="05000000000000000000" pitchFamily="2" charset="2"/>
              </a:rPr>
              <a:t>	</a:t>
            </a:r>
            <a:r>
              <a:rPr lang="es-ES" dirty="0"/>
              <a:t>A.V. IES Juan de la Cierva / Ciclos Formativos </a:t>
            </a:r>
            <a:r>
              <a:rPr lang="es-ES"/>
              <a:t>/ Gestión FFE</a:t>
            </a:r>
            <a:endParaRPr lang="es-ES" dirty="0">
              <a:sym typeface="Wingdings" panose="05000000000000000000" pitchFamily="2" charset="2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BBB641-5020-D705-ACF5-A0F670AF6CA6}"/>
              </a:ext>
            </a:extLst>
          </p:cNvPr>
          <p:cNvSpPr txBox="1"/>
          <p:nvPr/>
        </p:nvSpPr>
        <p:spPr>
          <a:xfrm>
            <a:off x="-1106388" y="322919"/>
            <a:ext cx="896056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7. Aulas virtuales de gestión</a:t>
            </a:r>
          </a:p>
          <a:p>
            <a:pPr algn="ctr"/>
            <a:r>
              <a:rPr lang="es-ES" sz="2400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CAFA8F6-5AA1-4845-81D0-7229EF9B2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36" y="3068453"/>
            <a:ext cx="2658001" cy="3689464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552A593-FA4D-488F-872A-2CC533D73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149" y="738417"/>
            <a:ext cx="3101609" cy="3482642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Flecha: a la derecha con muesca 7">
            <a:extLst>
              <a:ext uri="{FF2B5EF4-FFF2-40B4-BE49-F238E27FC236}">
                <a16:creationId xmlns:a16="http://schemas.microsoft.com/office/drawing/2014/main" id="{D2848DB3-0C9E-4E80-95CA-C75E8F77700A}"/>
              </a:ext>
            </a:extLst>
          </p:cNvPr>
          <p:cNvSpPr/>
          <p:nvPr/>
        </p:nvSpPr>
        <p:spPr>
          <a:xfrm>
            <a:off x="7422131" y="1589122"/>
            <a:ext cx="864096" cy="445206"/>
          </a:xfrm>
          <a:prstGeom prst="notched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echa: a la derecha con muesca 8">
            <a:extLst>
              <a:ext uri="{FF2B5EF4-FFF2-40B4-BE49-F238E27FC236}">
                <a16:creationId xmlns:a16="http://schemas.microsoft.com/office/drawing/2014/main" id="{8723CDEE-838F-47E2-9916-955CAD4CD4F4}"/>
              </a:ext>
            </a:extLst>
          </p:cNvPr>
          <p:cNvSpPr/>
          <p:nvPr/>
        </p:nvSpPr>
        <p:spPr>
          <a:xfrm rot="10800000">
            <a:off x="3718148" y="3998456"/>
            <a:ext cx="864096" cy="445206"/>
          </a:xfrm>
          <a:prstGeom prst="notched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82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5860" y="332656"/>
            <a:ext cx="10801200" cy="1080120"/>
          </a:xfrm>
        </p:spPr>
        <p:txBody>
          <a:bodyPr rtlCol="0">
            <a:normAutofit fontScale="90000"/>
          </a:bodyPr>
          <a:lstStyle/>
          <a:p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br>
              <a:rPr lang="es-ES" sz="44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</a:br>
            <a:endParaRPr lang="es-ES" sz="4400" b="1" dirty="0">
              <a:latin typeface="Cavolini" panose="03000502040302020204" pitchFamily="66" charset="0"/>
              <a:cs typeface="Cavolini" panose="03000502040302020204" pitchFamily="66" charset="0"/>
            </a:endParaRPr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773256" y="980728"/>
            <a:ext cx="11153803" cy="5777189"/>
          </a:xfrm>
        </p:spPr>
        <p:txBody>
          <a:bodyPr vert="horz" lIns="121899" tIns="60949" rIns="121899" bIns="60949" rtlCol="0" anchor="t">
            <a:normAutofit/>
          </a:bodyPr>
          <a:lstStyle/>
          <a:p>
            <a:pPr marL="730885" lvl="1" indent="-304165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s-ES" dirty="0"/>
          </a:p>
          <a:p>
            <a:pPr marL="426720" lvl="1" indent="0">
              <a:lnSpc>
                <a:spcPct val="120000"/>
              </a:lnSpc>
              <a:buNone/>
            </a:pPr>
            <a:r>
              <a:rPr lang="es-ES" sz="2400" b="1" dirty="0"/>
              <a:t>3. Aula </a:t>
            </a:r>
            <a:r>
              <a:rPr lang="es-ES" sz="2400" b="1" dirty="0">
                <a:solidFill>
                  <a:schemeClr val="tx2">
                    <a:lumMod val="50000"/>
                  </a:schemeClr>
                </a:solidFill>
              </a:rPr>
              <a:t>virtual</a:t>
            </a:r>
            <a:r>
              <a:rPr lang="es-ES" sz="2400" b="1" dirty="0"/>
              <a:t> de Claustro:</a:t>
            </a:r>
          </a:p>
          <a:p>
            <a:pPr marL="804863" lvl="1" indent="-360363">
              <a:lnSpc>
                <a:spcPct val="120000"/>
              </a:lnSpc>
              <a:spcBef>
                <a:spcPts val="0"/>
              </a:spcBef>
              <a:buNone/>
              <a:tabLst>
                <a:tab pos="804863" algn="l"/>
              </a:tabLst>
            </a:pPr>
            <a:r>
              <a:rPr lang="es-ES" dirty="0"/>
              <a:t>	A.V. IES </a:t>
            </a:r>
            <a:r>
              <a:rPr lang="es-ES" sz="1800" dirty="0">
                <a:solidFill>
                  <a:schemeClr val="tx2">
                    <a:lumMod val="50000"/>
                  </a:schemeClr>
                </a:solidFill>
              </a:rPr>
              <a:t>Juan</a:t>
            </a:r>
            <a:r>
              <a:rPr lang="es-ES" dirty="0"/>
              <a:t> de la Cierva / Claustro de profesores/as</a:t>
            </a:r>
          </a:p>
          <a:p>
            <a:pPr marL="2845115" lvl="6" indent="-304165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s-ES" sz="3000" b="1" dirty="0">
              <a:sym typeface="Wingdings" panose="05000000000000000000" pitchFamily="2" charset="2"/>
            </a:endParaRPr>
          </a:p>
          <a:p>
            <a:pPr marL="2845115" lvl="6" indent="-304165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s-ES" sz="3000" b="1" dirty="0">
              <a:sym typeface="Wingdings" panose="05000000000000000000" pitchFamily="2" charset="2"/>
            </a:endParaRPr>
          </a:p>
          <a:p>
            <a:pPr marL="2845115" lvl="6" indent="-304165">
              <a:lnSpc>
                <a:spcPct val="120000"/>
              </a:lnSpc>
              <a:buFont typeface="Wingdings" panose="05000000000000000000" pitchFamily="2" charset="2"/>
              <a:buChar char="Ø"/>
            </a:pPr>
            <a:endParaRPr lang="es-ES" sz="3000" b="1" dirty="0">
              <a:sym typeface="Wingdings" panose="05000000000000000000" pitchFamily="2" charset="2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BBB641-5020-D705-ACF5-A0F670AF6CA6}"/>
              </a:ext>
            </a:extLst>
          </p:cNvPr>
          <p:cNvSpPr txBox="1"/>
          <p:nvPr/>
        </p:nvSpPr>
        <p:spPr>
          <a:xfrm>
            <a:off x="-1106388" y="322919"/>
            <a:ext cx="896056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2800" b="1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7. Aulas virtuales de gestión</a:t>
            </a:r>
          </a:p>
          <a:p>
            <a:pPr algn="ctr"/>
            <a:r>
              <a:rPr lang="es-ES" sz="2400" dirty="0">
                <a:solidFill>
                  <a:schemeClr val="accent2">
                    <a:lumMod val="50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 </a:t>
            </a:r>
          </a:p>
        </p:txBody>
      </p:sp>
      <p:sp>
        <p:nvSpPr>
          <p:cNvPr id="8" name="Flecha: a la derecha con muesca 7">
            <a:extLst>
              <a:ext uri="{FF2B5EF4-FFF2-40B4-BE49-F238E27FC236}">
                <a16:creationId xmlns:a16="http://schemas.microsoft.com/office/drawing/2014/main" id="{D2848DB3-0C9E-4E80-95CA-C75E8F77700A}"/>
              </a:ext>
            </a:extLst>
          </p:cNvPr>
          <p:cNvSpPr/>
          <p:nvPr/>
        </p:nvSpPr>
        <p:spPr>
          <a:xfrm>
            <a:off x="2061964" y="3640140"/>
            <a:ext cx="864096" cy="445206"/>
          </a:xfrm>
          <a:prstGeom prst="notchedRightArrow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D5401F3-D4D1-40BE-8531-D4C141C4B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092" y="2592040"/>
            <a:ext cx="5523494" cy="394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7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7748" y="3068960"/>
            <a:ext cx="7165843" cy="1008112"/>
          </a:xfrm>
          <a:ln>
            <a:solidFill>
              <a:schemeClr val="accent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b">
            <a:noAutofit/>
          </a:bodyPr>
          <a:lstStyle/>
          <a:p>
            <a:pPr algn="ctr"/>
            <a:br>
              <a:rPr lang="es-ES" sz="6600" i="1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</a:br>
            <a:br>
              <a:rPr lang="es-ES" sz="6000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 panose="04020705040A02060702" pitchFamily="82" charset="0"/>
              </a:rPr>
            </a:br>
            <a:r>
              <a:rPr lang="es-ES" sz="5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lgerian"/>
              </a:rPr>
              <a:t>feliz curso </a:t>
            </a:r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862FF408-04D0-92D7-85B7-2534310D4930}"/>
              </a:ext>
            </a:extLst>
          </p:cNvPr>
          <p:cNvSpPr txBox="1"/>
          <p:nvPr/>
        </p:nvSpPr>
        <p:spPr>
          <a:xfrm>
            <a:off x="10676657" y="1102241"/>
            <a:ext cx="1512168" cy="238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8987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IES Juan de la Cierva</a:t>
            </a:r>
          </a:p>
        </p:txBody>
      </p:sp>
      <p:pic>
        <p:nvPicPr>
          <p:cNvPr id="5" name="Imagen 4" descr="Dibujo en fondo negro&#10;&#10;Descripción generada automáticamente con confianza baja">
            <a:extLst>
              <a:ext uri="{FF2B5EF4-FFF2-40B4-BE49-F238E27FC236}">
                <a16:creationId xmlns:a16="http://schemas.microsoft.com/office/drawing/2014/main" id="{A6282A58-A636-36A9-7886-035E993B9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8948" y="154529"/>
            <a:ext cx="957523" cy="100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1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resentación de la inauguración de la clas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5976607_TF03460507.potx" id="{978D668A-BDEA-4F1E-861A-D5C14E1146B1}" vid="{DFF3A27C-A7BB-42EB-81B2-D360AF170E9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815</TotalTime>
  <Words>1166</Words>
  <Application>Microsoft Office PowerPoint</Application>
  <PresentationFormat>Personalizado</PresentationFormat>
  <Paragraphs>159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4" baseType="lpstr">
      <vt:lpstr>Algerian</vt:lpstr>
      <vt:lpstr>Arial</vt:lpstr>
      <vt:lpstr>Cavolini</vt:lpstr>
      <vt:lpstr>Century Gothic</vt:lpstr>
      <vt:lpstr>Courier New</vt:lpstr>
      <vt:lpstr>Wingdings</vt:lpstr>
      <vt:lpstr>Presentación de la inauguración de la clase</vt:lpstr>
      <vt:lpstr>    TUTORES CCFF 2026-27</vt:lpstr>
      <vt:lpstr>ÍNDICE</vt:lpstr>
      <vt:lpstr>1. Entrada y salida del centro</vt:lpstr>
      <vt:lpstr>      2. Calendario    web&gt;Enseñanzas&gt;&gt;Ciclos Formativos&gt;Calendario-enseñanzas-de-FP-2026-27 También disponible en Aula Virtual-&gt;Claustro</vt:lpstr>
      <vt:lpstr>3. Casilleros y aula virtual </vt:lpstr>
      <vt:lpstr>    4. Convivencia y protocolo de sanciones  </vt:lpstr>
      <vt:lpstr>       5. Alumnos con NEAE   </vt:lpstr>
      <vt:lpstr>       5. Alumnos con NEAE   </vt:lpstr>
      <vt:lpstr>          </vt:lpstr>
      <vt:lpstr>          </vt:lpstr>
      <vt:lpstr>          </vt:lpstr>
      <vt:lpstr>          </vt:lpstr>
      <vt:lpstr>          </vt:lpstr>
      <vt:lpstr>          </vt:lpstr>
      <vt:lpstr>          </vt:lpstr>
      <vt:lpstr>          </vt:lpstr>
      <vt:lpstr>  feliz curso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REUNIÓN TUTORES 1º CCFF 23-24</dc:title>
  <dc:creator>Fernández Rey, Maria Belén</dc:creator>
  <cp:lastModifiedBy>Belén Fernández Rey</cp:lastModifiedBy>
  <cp:revision>190</cp:revision>
  <dcterms:created xsi:type="dcterms:W3CDTF">2023-07-17T18:29:37Z</dcterms:created>
  <dcterms:modified xsi:type="dcterms:W3CDTF">2026-09-08T20:11:42Z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